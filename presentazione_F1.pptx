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1" r:id="rId5"/>
    <p:sldId id="259" r:id="rId6"/>
    <p:sldId id="273" r:id="rId7"/>
    <p:sldId id="276" r:id="rId8"/>
    <p:sldId id="277" r:id="rId9"/>
    <p:sldId id="278" r:id="rId10"/>
    <p:sldId id="260" r:id="rId11"/>
    <p:sldId id="261" r:id="rId12"/>
    <p:sldId id="262" r:id="rId13"/>
    <p:sldId id="263" r:id="rId14"/>
    <p:sldId id="264" r:id="rId15"/>
    <p:sldId id="279" r:id="rId16"/>
    <p:sldId id="265" r:id="rId17"/>
    <p:sldId id="280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700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77" autoAdjust="0"/>
  </p:normalViewPr>
  <p:slideViewPr>
    <p:cSldViewPr snapToGrid="0" snapToObjects="1">
      <p:cViewPr varScale="1">
        <p:scale>
          <a:sx n="90" d="100"/>
          <a:sy n="90" d="100"/>
        </p:scale>
        <p:origin x="135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69F74-5B56-4D9C-A3CE-9CD19CA2C1BC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BB07F-30ED-420F-8579-BA5526A52A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777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BB07F-30ED-420F-8579-BA5526A52A4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163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Obiettivo principale: identificare pattern distintivi negli stili di guida dei piloti di Formula 1.</a:t>
            </a:r>
          </a:p>
          <a:p>
            <a:endParaRPr/>
          </a:p>
          <a:p>
            <a:r>
              <a:t>Dataset:</a:t>
            </a:r>
          </a:p>
          <a:p>
            <a:r>
              <a:t>- Telemetrie complete delle sessioni di qualifica della stagione 2025</a:t>
            </a:r>
          </a:p>
          <a:p>
            <a:r>
              <a:t>- Miglior giro per ciascun pilota in ogni Gran Premio (24 GP totali)</a:t>
            </a:r>
          </a:p>
          <a:p>
            <a:r>
              <a:t>- Variabili: velocità, accelerazioni longitudinali/laterali, throttle, freno, RPM, marcia, DRS</a:t>
            </a:r>
          </a:p>
          <a:p>
            <a:endParaRPr/>
          </a:p>
          <a:p>
            <a:r>
              <a:t>Metodologia:</a:t>
            </a:r>
          </a:p>
          <a:p>
            <a:r>
              <a:t>- Approccio statistico: Model-Based Clustering</a:t>
            </a:r>
          </a:p>
          <a:p>
            <a:r>
              <a:t>- Riduzione dimensionalità tramite PCA</a:t>
            </a:r>
          </a:p>
          <a:p>
            <a:r>
              <a:t>- Mixture of Experts Models per controllare l'effetto pista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grafico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le </a:t>
            </a:r>
            <a:r>
              <a:rPr dirty="0" err="1"/>
              <a:t>differenze</a:t>
            </a:r>
            <a:r>
              <a:rPr dirty="0"/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telemetrie</a:t>
            </a:r>
            <a:r>
              <a:rPr dirty="0"/>
              <a:t> di 4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il Gran Premio degli USA.</a:t>
            </a:r>
          </a:p>
          <a:p>
            <a:endParaRPr dirty="0"/>
          </a:p>
          <a:p>
            <a:r>
              <a:rPr dirty="0" err="1"/>
              <a:t>Osservazioni</a:t>
            </a:r>
            <a:r>
              <a:rPr dirty="0"/>
              <a:t> </a:t>
            </a:r>
            <a:r>
              <a:rPr dirty="0" err="1"/>
              <a:t>chiave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Accelerazione</a:t>
            </a:r>
            <a:r>
              <a:rPr dirty="0"/>
              <a:t> </a:t>
            </a:r>
            <a:r>
              <a:rPr dirty="0" err="1"/>
              <a:t>laterale</a:t>
            </a:r>
            <a:r>
              <a:rPr dirty="0"/>
              <a:t>: </a:t>
            </a:r>
            <a:r>
              <a:rPr dirty="0" err="1"/>
              <a:t>mostra</a:t>
            </a:r>
            <a:r>
              <a:rPr dirty="0"/>
              <a:t> come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affrontano</a:t>
            </a:r>
            <a:r>
              <a:rPr dirty="0"/>
              <a:t> le curve</a:t>
            </a:r>
          </a:p>
          <a:p>
            <a:r>
              <a:rPr dirty="0"/>
              <a:t>- </a:t>
            </a:r>
            <a:r>
              <a:rPr dirty="0" err="1"/>
              <a:t>Accelerazione</a:t>
            </a:r>
            <a:r>
              <a:rPr dirty="0"/>
              <a:t> </a:t>
            </a:r>
            <a:r>
              <a:rPr dirty="0" err="1"/>
              <a:t>longitudinale</a:t>
            </a:r>
            <a:r>
              <a:rPr dirty="0"/>
              <a:t>: </a:t>
            </a:r>
            <a:r>
              <a:rPr dirty="0" err="1"/>
              <a:t>evidenzia</a:t>
            </a:r>
            <a:r>
              <a:rPr dirty="0"/>
              <a:t> </a:t>
            </a:r>
            <a:r>
              <a:rPr dirty="0" err="1"/>
              <a:t>differenze</a:t>
            </a:r>
            <a:r>
              <a:rPr dirty="0"/>
              <a:t> in </a:t>
            </a:r>
            <a:r>
              <a:rPr dirty="0" err="1"/>
              <a:t>frenata</a:t>
            </a:r>
            <a:r>
              <a:rPr dirty="0"/>
              <a:t> e </a:t>
            </a:r>
            <a:r>
              <a:rPr dirty="0" err="1"/>
              <a:t>accelerazione</a:t>
            </a:r>
            <a:endParaRPr dirty="0"/>
          </a:p>
          <a:p>
            <a:r>
              <a:rPr dirty="0"/>
              <a:t>- </a:t>
            </a:r>
            <a:r>
              <a:rPr dirty="0" err="1"/>
              <a:t>Velocità</a:t>
            </a:r>
            <a:r>
              <a:rPr dirty="0"/>
              <a:t>: pattern di </a:t>
            </a:r>
            <a:r>
              <a:rPr dirty="0" err="1"/>
              <a:t>gestione</a:t>
            </a:r>
            <a:r>
              <a:rPr dirty="0"/>
              <a:t> della </a:t>
            </a:r>
            <a:r>
              <a:rPr dirty="0" err="1"/>
              <a:t>velocità</a:t>
            </a:r>
            <a:r>
              <a:rPr dirty="0"/>
              <a:t> </a:t>
            </a:r>
            <a:r>
              <a:rPr dirty="0" err="1"/>
              <a:t>lungo</a:t>
            </a:r>
            <a:r>
              <a:rPr dirty="0"/>
              <a:t> il </a:t>
            </a:r>
            <a:r>
              <a:rPr dirty="0" err="1"/>
              <a:t>giro</a:t>
            </a:r>
            <a:endParaRPr dirty="0"/>
          </a:p>
          <a:p>
            <a:r>
              <a:rPr dirty="0"/>
              <a:t>- Throttle: </a:t>
            </a:r>
            <a:r>
              <a:rPr dirty="0" err="1"/>
              <a:t>modulazione</a:t>
            </a:r>
            <a:r>
              <a:rPr dirty="0"/>
              <a:t> </a:t>
            </a:r>
            <a:r>
              <a:rPr dirty="0" err="1"/>
              <a:t>dell'acceleratore</a:t>
            </a:r>
            <a:endParaRPr dirty="0"/>
          </a:p>
          <a:p>
            <a:endParaRPr dirty="0"/>
          </a:p>
          <a:p>
            <a:r>
              <a:rPr dirty="0" err="1"/>
              <a:t>Già</a:t>
            </a:r>
            <a:r>
              <a:rPr dirty="0"/>
              <a:t> da </a:t>
            </a:r>
            <a:r>
              <a:rPr dirty="0" err="1"/>
              <a:t>questa</a:t>
            </a:r>
            <a:r>
              <a:rPr dirty="0"/>
              <a:t> </a:t>
            </a:r>
            <a:r>
              <a:rPr dirty="0" err="1"/>
              <a:t>visualizzazione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notano</a:t>
            </a:r>
            <a:r>
              <a:rPr dirty="0"/>
              <a:t> </a:t>
            </a:r>
            <a:r>
              <a:rPr dirty="0" err="1"/>
              <a:t>differenze</a:t>
            </a:r>
            <a:r>
              <a:rPr dirty="0"/>
              <a:t> significative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repentine</a:t>
            </a:r>
            <a:r>
              <a:rPr dirty="0"/>
              <a:t>,</a:t>
            </a:r>
          </a:p>
          <a:p>
            <a:r>
              <a:rPr dirty="0" err="1"/>
              <a:t>suggerendo</a:t>
            </a:r>
            <a:r>
              <a:rPr dirty="0"/>
              <a:t> </a:t>
            </a:r>
            <a:r>
              <a:rPr dirty="0" err="1"/>
              <a:t>l'esistenza</a:t>
            </a:r>
            <a:r>
              <a:rPr dirty="0"/>
              <a:t> di </a:t>
            </a:r>
            <a:r>
              <a:rPr dirty="0" err="1"/>
              <a:t>stili</a:t>
            </a:r>
            <a:r>
              <a:rPr dirty="0"/>
              <a:t> di </a:t>
            </a:r>
            <a:r>
              <a:rPr dirty="0" err="1"/>
              <a:t>guida</a:t>
            </a:r>
            <a:r>
              <a:rPr dirty="0"/>
              <a:t> </a:t>
            </a:r>
            <a:r>
              <a:rPr dirty="0" err="1"/>
              <a:t>distinti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995A-DB22-D534-AF0C-D1C4129C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2ACED-7E9F-E384-A4AE-23E2BADD6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C4896-756F-614B-BACF-D4F4BC26F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grafico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le </a:t>
            </a:r>
            <a:r>
              <a:rPr dirty="0" err="1"/>
              <a:t>differenze</a:t>
            </a:r>
            <a:r>
              <a:rPr dirty="0"/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telemetrie</a:t>
            </a:r>
            <a:r>
              <a:rPr dirty="0"/>
              <a:t> di 4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il Gran Premio degli USA.</a:t>
            </a:r>
          </a:p>
          <a:p>
            <a:endParaRPr dirty="0"/>
          </a:p>
          <a:p>
            <a:r>
              <a:rPr dirty="0" err="1"/>
              <a:t>Osservazioni</a:t>
            </a:r>
            <a:r>
              <a:rPr dirty="0"/>
              <a:t> </a:t>
            </a:r>
            <a:r>
              <a:rPr dirty="0" err="1"/>
              <a:t>chiave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Accelerazione</a:t>
            </a:r>
            <a:r>
              <a:rPr dirty="0"/>
              <a:t> </a:t>
            </a:r>
            <a:r>
              <a:rPr dirty="0" err="1"/>
              <a:t>laterale</a:t>
            </a:r>
            <a:r>
              <a:rPr dirty="0"/>
              <a:t>: </a:t>
            </a:r>
            <a:r>
              <a:rPr dirty="0" err="1"/>
              <a:t>mostra</a:t>
            </a:r>
            <a:r>
              <a:rPr dirty="0"/>
              <a:t> come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affrontano</a:t>
            </a:r>
            <a:r>
              <a:rPr dirty="0"/>
              <a:t> le curve</a:t>
            </a:r>
          </a:p>
          <a:p>
            <a:r>
              <a:rPr dirty="0"/>
              <a:t>- </a:t>
            </a:r>
            <a:r>
              <a:rPr dirty="0" err="1"/>
              <a:t>Accelerazione</a:t>
            </a:r>
            <a:r>
              <a:rPr dirty="0"/>
              <a:t> </a:t>
            </a:r>
            <a:r>
              <a:rPr dirty="0" err="1"/>
              <a:t>longitudinale</a:t>
            </a:r>
            <a:r>
              <a:rPr dirty="0"/>
              <a:t>: </a:t>
            </a:r>
            <a:r>
              <a:rPr dirty="0" err="1"/>
              <a:t>evidenzia</a:t>
            </a:r>
            <a:r>
              <a:rPr dirty="0"/>
              <a:t> </a:t>
            </a:r>
            <a:r>
              <a:rPr dirty="0" err="1"/>
              <a:t>differenze</a:t>
            </a:r>
            <a:r>
              <a:rPr dirty="0"/>
              <a:t> in </a:t>
            </a:r>
            <a:r>
              <a:rPr dirty="0" err="1"/>
              <a:t>frenata</a:t>
            </a:r>
            <a:r>
              <a:rPr dirty="0"/>
              <a:t> e </a:t>
            </a:r>
            <a:r>
              <a:rPr dirty="0" err="1"/>
              <a:t>accelerazione</a:t>
            </a:r>
            <a:endParaRPr dirty="0"/>
          </a:p>
          <a:p>
            <a:r>
              <a:rPr dirty="0"/>
              <a:t>- </a:t>
            </a:r>
            <a:r>
              <a:rPr dirty="0" err="1"/>
              <a:t>Velocità</a:t>
            </a:r>
            <a:r>
              <a:rPr dirty="0"/>
              <a:t>: pattern di </a:t>
            </a:r>
            <a:r>
              <a:rPr dirty="0" err="1"/>
              <a:t>gestione</a:t>
            </a:r>
            <a:r>
              <a:rPr dirty="0"/>
              <a:t> della </a:t>
            </a:r>
            <a:r>
              <a:rPr dirty="0" err="1"/>
              <a:t>velocità</a:t>
            </a:r>
            <a:r>
              <a:rPr dirty="0"/>
              <a:t> </a:t>
            </a:r>
            <a:r>
              <a:rPr dirty="0" err="1"/>
              <a:t>lungo</a:t>
            </a:r>
            <a:r>
              <a:rPr dirty="0"/>
              <a:t> il </a:t>
            </a:r>
            <a:r>
              <a:rPr dirty="0" err="1"/>
              <a:t>giro</a:t>
            </a:r>
            <a:endParaRPr dirty="0"/>
          </a:p>
          <a:p>
            <a:r>
              <a:rPr dirty="0"/>
              <a:t>- Throttle: </a:t>
            </a:r>
            <a:r>
              <a:rPr dirty="0" err="1"/>
              <a:t>modulazione</a:t>
            </a:r>
            <a:r>
              <a:rPr dirty="0"/>
              <a:t> </a:t>
            </a:r>
            <a:r>
              <a:rPr dirty="0" err="1"/>
              <a:t>dell'acceleratore</a:t>
            </a:r>
            <a:endParaRPr dirty="0"/>
          </a:p>
          <a:p>
            <a:endParaRPr dirty="0"/>
          </a:p>
          <a:p>
            <a:r>
              <a:rPr dirty="0" err="1"/>
              <a:t>Già</a:t>
            </a:r>
            <a:r>
              <a:rPr dirty="0"/>
              <a:t> da </a:t>
            </a:r>
            <a:r>
              <a:rPr dirty="0" err="1"/>
              <a:t>questa</a:t>
            </a:r>
            <a:r>
              <a:rPr dirty="0"/>
              <a:t> </a:t>
            </a:r>
            <a:r>
              <a:rPr dirty="0" err="1"/>
              <a:t>visualizzazione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notano</a:t>
            </a:r>
            <a:r>
              <a:rPr dirty="0"/>
              <a:t> </a:t>
            </a:r>
            <a:r>
              <a:rPr dirty="0" err="1"/>
              <a:t>differenze</a:t>
            </a:r>
            <a:r>
              <a:rPr dirty="0"/>
              <a:t> significative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repentine</a:t>
            </a:r>
            <a:r>
              <a:rPr dirty="0"/>
              <a:t>,</a:t>
            </a:r>
          </a:p>
          <a:p>
            <a:r>
              <a:rPr dirty="0" err="1"/>
              <a:t>suggerendo</a:t>
            </a:r>
            <a:r>
              <a:rPr dirty="0"/>
              <a:t> </a:t>
            </a:r>
            <a:r>
              <a:rPr dirty="0" err="1"/>
              <a:t>l'esistenza</a:t>
            </a:r>
            <a:r>
              <a:rPr dirty="0"/>
              <a:t> di </a:t>
            </a:r>
            <a:r>
              <a:rPr dirty="0" err="1"/>
              <a:t>stili</a:t>
            </a:r>
            <a:r>
              <a:rPr dirty="0"/>
              <a:t> di </a:t>
            </a:r>
            <a:r>
              <a:rPr dirty="0" err="1"/>
              <a:t>guida</a:t>
            </a:r>
            <a:r>
              <a:rPr dirty="0"/>
              <a:t> </a:t>
            </a:r>
            <a:r>
              <a:rPr dirty="0" err="1"/>
              <a:t>distinti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CBACE-7421-3C8B-562F-301123B79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24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Pre-processing </a:t>
            </a:r>
            <a:r>
              <a:rPr dirty="0" err="1"/>
              <a:t>dettagliato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Pulizia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Rimossi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di Russell (Miami GP) per </a:t>
            </a:r>
            <a:r>
              <a:rPr dirty="0" err="1"/>
              <a:t>malfunzionamento</a:t>
            </a:r>
            <a:r>
              <a:rPr dirty="0"/>
              <a:t> </a:t>
            </a:r>
            <a:r>
              <a:rPr dirty="0" err="1"/>
              <a:t>sensori</a:t>
            </a:r>
            <a:endParaRPr dirty="0"/>
          </a:p>
          <a:p>
            <a:r>
              <a:rPr dirty="0"/>
              <a:t>   - </a:t>
            </a:r>
            <a:r>
              <a:rPr dirty="0" err="1"/>
              <a:t>Eliminati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incompleti</a:t>
            </a:r>
            <a:r>
              <a:rPr dirty="0"/>
              <a:t> (Tsunoda, Bearman, Hadjar)</a:t>
            </a:r>
          </a:p>
          <a:p>
            <a:r>
              <a:rPr dirty="0"/>
              <a:t>   - </a:t>
            </a:r>
            <a:r>
              <a:rPr dirty="0" err="1"/>
              <a:t>Applicata</a:t>
            </a:r>
            <a:r>
              <a:rPr dirty="0"/>
              <a:t> </a:t>
            </a:r>
            <a:r>
              <a:rPr dirty="0" err="1"/>
              <a:t>regola</a:t>
            </a:r>
            <a:r>
              <a:rPr dirty="0"/>
              <a:t> FIA 107%: </a:t>
            </a:r>
            <a:r>
              <a:rPr dirty="0" err="1"/>
              <a:t>esclusi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oltre</a:t>
            </a:r>
            <a:r>
              <a:rPr dirty="0"/>
              <a:t> il 107% del tempo </a:t>
            </a:r>
            <a:r>
              <a:rPr dirty="0" err="1"/>
              <a:t>minimo</a:t>
            </a:r>
            <a:endParaRPr dirty="0"/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Trasformazioni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acc_x</a:t>
            </a:r>
            <a:r>
              <a:rPr dirty="0"/>
              <a:t> separata in </a:t>
            </a:r>
            <a:r>
              <a:rPr dirty="0" err="1"/>
              <a:t>accelerazione</a:t>
            </a:r>
            <a:r>
              <a:rPr dirty="0"/>
              <a:t> (</a:t>
            </a:r>
            <a:r>
              <a:rPr dirty="0" err="1"/>
              <a:t>positiva</a:t>
            </a:r>
            <a:r>
              <a:rPr dirty="0"/>
              <a:t>) e </a:t>
            </a:r>
            <a:r>
              <a:rPr dirty="0" err="1"/>
              <a:t>decelerazione</a:t>
            </a:r>
            <a:r>
              <a:rPr dirty="0"/>
              <a:t> (</a:t>
            </a:r>
            <a:r>
              <a:rPr dirty="0" err="1"/>
              <a:t>negativa</a:t>
            </a:r>
            <a:r>
              <a:rPr dirty="0"/>
              <a:t> in modulo)</a:t>
            </a:r>
          </a:p>
          <a:p>
            <a:r>
              <a:rPr dirty="0"/>
              <a:t>   - </a:t>
            </a:r>
            <a:r>
              <a:rPr dirty="0" err="1"/>
              <a:t>acc_y</a:t>
            </a:r>
            <a:r>
              <a:rPr dirty="0"/>
              <a:t> </a:t>
            </a:r>
            <a:r>
              <a:rPr dirty="0" err="1"/>
              <a:t>trasformata</a:t>
            </a:r>
            <a:r>
              <a:rPr dirty="0"/>
              <a:t> in </a:t>
            </a:r>
            <a:r>
              <a:rPr dirty="0" err="1"/>
              <a:t>valore</a:t>
            </a:r>
            <a:r>
              <a:rPr dirty="0"/>
              <a:t> </a:t>
            </a:r>
            <a:r>
              <a:rPr dirty="0" err="1"/>
              <a:t>assoluto</a:t>
            </a:r>
            <a:r>
              <a:rPr dirty="0"/>
              <a:t>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intensità</a:t>
            </a:r>
            <a:r>
              <a:rPr dirty="0"/>
              <a:t> </a:t>
            </a:r>
            <a:r>
              <a:rPr dirty="0" err="1"/>
              <a:t>forze</a:t>
            </a:r>
            <a:r>
              <a:rPr dirty="0"/>
              <a:t> </a:t>
            </a:r>
            <a:r>
              <a:rPr dirty="0" err="1"/>
              <a:t>laterali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analizzare</a:t>
            </a:r>
            <a:r>
              <a:rPr dirty="0"/>
              <a:t> </a:t>
            </a:r>
            <a:r>
              <a:rPr dirty="0" err="1"/>
              <a:t>separatamente</a:t>
            </a:r>
            <a:r>
              <a:rPr dirty="0"/>
              <a:t> le </a:t>
            </a:r>
            <a:r>
              <a:rPr dirty="0" err="1"/>
              <a:t>fasi</a:t>
            </a:r>
            <a:r>
              <a:rPr dirty="0"/>
              <a:t> di </a:t>
            </a:r>
            <a:r>
              <a:rPr dirty="0" err="1"/>
              <a:t>accelerazione</a:t>
            </a:r>
            <a:r>
              <a:rPr dirty="0"/>
              <a:t> e </a:t>
            </a:r>
            <a:r>
              <a:rPr dirty="0" err="1"/>
              <a:t>frenata</a:t>
            </a:r>
            <a:endParaRPr dirty="0"/>
          </a:p>
          <a:p>
            <a:endParaRPr dirty="0"/>
          </a:p>
          <a:p>
            <a:r>
              <a:rPr dirty="0"/>
              <a:t>3. Feature Engineering:</a:t>
            </a:r>
          </a:p>
          <a:p>
            <a:r>
              <a:rPr dirty="0"/>
              <a:t>   - </a:t>
            </a:r>
            <a:r>
              <a:rPr dirty="0" err="1"/>
              <a:t>Creazione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 lag (lag1, lag5)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temporali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Calcolo</a:t>
            </a:r>
            <a:r>
              <a:rPr dirty="0"/>
              <a:t> </a:t>
            </a:r>
            <a:r>
              <a:rPr dirty="0" err="1"/>
              <a:t>statistiche</a:t>
            </a:r>
            <a:r>
              <a:rPr dirty="0"/>
              <a:t>: media e </a:t>
            </a:r>
            <a:r>
              <a:rPr dirty="0" err="1"/>
              <a:t>deviazione</a:t>
            </a:r>
            <a:r>
              <a:rPr dirty="0"/>
              <a:t> standard per GP e </a:t>
            </a:r>
            <a:r>
              <a:rPr dirty="0" err="1"/>
              <a:t>pilota</a:t>
            </a:r>
            <a:endParaRPr dirty="0"/>
          </a:p>
          <a:p>
            <a:r>
              <a:rPr dirty="0"/>
              <a:t>   - </a:t>
            </a:r>
            <a:r>
              <a:rPr dirty="0" err="1"/>
              <a:t>Coefficienti</a:t>
            </a:r>
            <a:r>
              <a:rPr dirty="0"/>
              <a:t> di </a:t>
            </a:r>
            <a:r>
              <a:rPr dirty="0" err="1"/>
              <a:t>Variazione</a:t>
            </a:r>
            <a:r>
              <a:rPr dirty="0"/>
              <a:t> (CV) per </a:t>
            </a:r>
            <a:r>
              <a:rPr dirty="0" err="1"/>
              <a:t>normalizzare</a:t>
            </a:r>
            <a:r>
              <a:rPr dirty="0"/>
              <a:t> rispetto al setup vettura</a:t>
            </a:r>
          </a:p>
          <a:p>
            <a:r>
              <a:rPr dirty="0"/>
              <a:t>   - </a:t>
            </a:r>
            <a:r>
              <a:rPr dirty="0" err="1"/>
              <a:t>Riscalamento</a:t>
            </a:r>
            <a:r>
              <a:rPr dirty="0"/>
              <a:t> [0,1] per </a:t>
            </a:r>
            <a:r>
              <a:rPr dirty="0" err="1"/>
              <a:t>confrontare</a:t>
            </a:r>
            <a:r>
              <a:rPr dirty="0"/>
              <a:t> </a:t>
            </a:r>
            <a:r>
              <a:rPr dirty="0" err="1"/>
              <a:t>circuiti</a:t>
            </a:r>
            <a:r>
              <a:rPr dirty="0"/>
              <a:t> </a:t>
            </a:r>
            <a:r>
              <a:rPr dirty="0" err="1"/>
              <a:t>diversi</a:t>
            </a:r>
            <a:endParaRPr dirty="0"/>
          </a:p>
          <a:p>
            <a:r>
              <a:rPr dirty="0"/>
              <a:t>   - </a:t>
            </a:r>
            <a:r>
              <a:rPr dirty="0" err="1"/>
              <a:t>Riduzione</a:t>
            </a:r>
            <a:r>
              <a:rPr dirty="0"/>
              <a:t> da 28 a 26 </a:t>
            </a:r>
            <a:r>
              <a:rPr dirty="0" err="1"/>
              <a:t>variabili</a:t>
            </a:r>
            <a:r>
              <a:rPr dirty="0"/>
              <a:t> (</a:t>
            </a:r>
            <a:r>
              <a:rPr dirty="0" err="1"/>
              <a:t>eliminazione</a:t>
            </a:r>
            <a:r>
              <a:rPr dirty="0"/>
              <a:t> </a:t>
            </a:r>
            <a:r>
              <a:rPr dirty="0" err="1"/>
              <a:t>correlazioni</a:t>
            </a:r>
            <a:r>
              <a:rPr dirty="0"/>
              <a:t> &gt; 0.9)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CFD8-4B7E-194A-3269-174FE01A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37286-D713-5427-7BD2-10932D4BA1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968E6-A18C-B600-F28B-C58690162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Pre-processing </a:t>
            </a:r>
            <a:r>
              <a:rPr dirty="0" err="1"/>
              <a:t>dettagliato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Pulizia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Rimossi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di Russell (Miami GP) per </a:t>
            </a:r>
            <a:r>
              <a:rPr dirty="0" err="1"/>
              <a:t>malfunzionamento</a:t>
            </a:r>
            <a:r>
              <a:rPr dirty="0"/>
              <a:t> </a:t>
            </a:r>
            <a:r>
              <a:rPr dirty="0" err="1"/>
              <a:t>sensori</a:t>
            </a:r>
            <a:endParaRPr dirty="0"/>
          </a:p>
          <a:p>
            <a:r>
              <a:rPr dirty="0"/>
              <a:t>   - </a:t>
            </a:r>
            <a:r>
              <a:rPr dirty="0" err="1"/>
              <a:t>Eliminati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incompleti</a:t>
            </a:r>
            <a:r>
              <a:rPr dirty="0"/>
              <a:t> (Tsunoda, Bearman, Hadjar)</a:t>
            </a:r>
          </a:p>
          <a:p>
            <a:r>
              <a:rPr dirty="0"/>
              <a:t>   - </a:t>
            </a:r>
            <a:r>
              <a:rPr dirty="0" err="1"/>
              <a:t>Applicata</a:t>
            </a:r>
            <a:r>
              <a:rPr dirty="0"/>
              <a:t> </a:t>
            </a:r>
            <a:r>
              <a:rPr dirty="0" err="1"/>
              <a:t>regola</a:t>
            </a:r>
            <a:r>
              <a:rPr dirty="0"/>
              <a:t> FIA 107%: </a:t>
            </a:r>
            <a:r>
              <a:rPr dirty="0" err="1"/>
              <a:t>esclusi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oltre</a:t>
            </a:r>
            <a:r>
              <a:rPr dirty="0"/>
              <a:t> il 107% del tempo </a:t>
            </a:r>
            <a:r>
              <a:rPr dirty="0" err="1"/>
              <a:t>minimo</a:t>
            </a:r>
            <a:endParaRPr dirty="0"/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Trasformazioni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acc_x</a:t>
            </a:r>
            <a:r>
              <a:rPr dirty="0"/>
              <a:t> separata in </a:t>
            </a:r>
            <a:r>
              <a:rPr dirty="0" err="1"/>
              <a:t>accelerazione</a:t>
            </a:r>
            <a:r>
              <a:rPr dirty="0"/>
              <a:t> (</a:t>
            </a:r>
            <a:r>
              <a:rPr dirty="0" err="1"/>
              <a:t>positiva</a:t>
            </a:r>
            <a:r>
              <a:rPr dirty="0"/>
              <a:t>) e </a:t>
            </a:r>
            <a:r>
              <a:rPr dirty="0" err="1"/>
              <a:t>decelerazione</a:t>
            </a:r>
            <a:r>
              <a:rPr dirty="0"/>
              <a:t> (</a:t>
            </a:r>
            <a:r>
              <a:rPr dirty="0" err="1"/>
              <a:t>negativa</a:t>
            </a:r>
            <a:r>
              <a:rPr dirty="0"/>
              <a:t> in modulo)</a:t>
            </a:r>
          </a:p>
          <a:p>
            <a:r>
              <a:rPr dirty="0"/>
              <a:t>   - </a:t>
            </a:r>
            <a:r>
              <a:rPr dirty="0" err="1"/>
              <a:t>acc_y</a:t>
            </a:r>
            <a:r>
              <a:rPr dirty="0"/>
              <a:t> </a:t>
            </a:r>
            <a:r>
              <a:rPr dirty="0" err="1"/>
              <a:t>trasformata</a:t>
            </a:r>
            <a:r>
              <a:rPr dirty="0"/>
              <a:t> in </a:t>
            </a:r>
            <a:r>
              <a:rPr dirty="0" err="1"/>
              <a:t>valore</a:t>
            </a:r>
            <a:r>
              <a:rPr dirty="0"/>
              <a:t> </a:t>
            </a:r>
            <a:r>
              <a:rPr dirty="0" err="1"/>
              <a:t>assoluto</a:t>
            </a:r>
            <a:r>
              <a:rPr dirty="0"/>
              <a:t>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intensità</a:t>
            </a:r>
            <a:r>
              <a:rPr dirty="0"/>
              <a:t> </a:t>
            </a:r>
            <a:r>
              <a:rPr dirty="0" err="1"/>
              <a:t>forze</a:t>
            </a:r>
            <a:r>
              <a:rPr dirty="0"/>
              <a:t> </a:t>
            </a:r>
            <a:r>
              <a:rPr dirty="0" err="1"/>
              <a:t>laterali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analizzare</a:t>
            </a:r>
            <a:r>
              <a:rPr dirty="0"/>
              <a:t> </a:t>
            </a:r>
            <a:r>
              <a:rPr dirty="0" err="1"/>
              <a:t>separatamente</a:t>
            </a:r>
            <a:r>
              <a:rPr dirty="0"/>
              <a:t> le </a:t>
            </a:r>
            <a:r>
              <a:rPr dirty="0" err="1"/>
              <a:t>fasi</a:t>
            </a:r>
            <a:r>
              <a:rPr dirty="0"/>
              <a:t> di </a:t>
            </a:r>
            <a:r>
              <a:rPr dirty="0" err="1"/>
              <a:t>accelerazione</a:t>
            </a:r>
            <a:r>
              <a:rPr dirty="0"/>
              <a:t> e </a:t>
            </a:r>
            <a:r>
              <a:rPr dirty="0" err="1"/>
              <a:t>frenata</a:t>
            </a:r>
            <a:endParaRPr dirty="0"/>
          </a:p>
          <a:p>
            <a:endParaRPr dirty="0"/>
          </a:p>
          <a:p>
            <a:r>
              <a:rPr dirty="0"/>
              <a:t>3. Feature Engineering:</a:t>
            </a:r>
          </a:p>
          <a:p>
            <a:r>
              <a:rPr dirty="0"/>
              <a:t>   - </a:t>
            </a:r>
            <a:r>
              <a:rPr dirty="0" err="1"/>
              <a:t>Creazione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 lag (lag1, lag5)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temporali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Calcolo</a:t>
            </a:r>
            <a:r>
              <a:rPr dirty="0"/>
              <a:t> </a:t>
            </a:r>
            <a:r>
              <a:rPr dirty="0" err="1"/>
              <a:t>statistiche</a:t>
            </a:r>
            <a:r>
              <a:rPr dirty="0"/>
              <a:t>: media e </a:t>
            </a:r>
            <a:r>
              <a:rPr dirty="0" err="1"/>
              <a:t>deviazione</a:t>
            </a:r>
            <a:r>
              <a:rPr dirty="0"/>
              <a:t> standard per GP e </a:t>
            </a:r>
            <a:r>
              <a:rPr dirty="0" err="1"/>
              <a:t>pilota</a:t>
            </a:r>
            <a:endParaRPr dirty="0"/>
          </a:p>
          <a:p>
            <a:r>
              <a:rPr dirty="0"/>
              <a:t>   - </a:t>
            </a:r>
            <a:r>
              <a:rPr dirty="0" err="1"/>
              <a:t>Coefficienti</a:t>
            </a:r>
            <a:r>
              <a:rPr dirty="0"/>
              <a:t> di </a:t>
            </a:r>
            <a:r>
              <a:rPr dirty="0" err="1"/>
              <a:t>Variazione</a:t>
            </a:r>
            <a:r>
              <a:rPr dirty="0"/>
              <a:t> (CV) per </a:t>
            </a:r>
            <a:r>
              <a:rPr dirty="0" err="1"/>
              <a:t>normalizzare</a:t>
            </a:r>
            <a:r>
              <a:rPr dirty="0"/>
              <a:t> rispetto al setup vettura</a:t>
            </a:r>
          </a:p>
          <a:p>
            <a:r>
              <a:rPr dirty="0"/>
              <a:t>   - </a:t>
            </a:r>
            <a:r>
              <a:rPr dirty="0" err="1"/>
              <a:t>Riscalamento</a:t>
            </a:r>
            <a:r>
              <a:rPr dirty="0"/>
              <a:t> [0,1] per </a:t>
            </a:r>
            <a:r>
              <a:rPr dirty="0" err="1"/>
              <a:t>confrontare</a:t>
            </a:r>
            <a:r>
              <a:rPr dirty="0"/>
              <a:t> </a:t>
            </a:r>
            <a:r>
              <a:rPr dirty="0" err="1"/>
              <a:t>circuiti</a:t>
            </a:r>
            <a:r>
              <a:rPr dirty="0"/>
              <a:t> </a:t>
            </a:r>
            <a:r>
              <a:rPr dirty="0" err="1"/>
              <a:t>diversi</a:t>
            </a:r>
            <a:endParaRPr dirty="0"/>
          </a:p>
          <a:p>
            <a:r>
              <a:rPr dirty="0"/>
              <a:t>   - </a:t>
            </a:r>
            <a:r>
              <a:rPr dirty="0" err="1"/>
              <a:t>Riduzione</a:t>
            </a:r>
            <a:r>
              <a:rPr dirty="0"/>
              <a:t> da 28 a 26 </a:t>
            </a:r>
            <a:r>
              <a:rPr dirty="0" err="1"/>
              <a:t>variabili</a:t>
            </a:r>
            <a:r>
              <a:rPr dirty="0"/>
              <a:t> (</a:t>
            </a:r>
            <a:r>
              <a:rPr dirty="0" err="1"/>
              <a:t>eliminazione</a:t>
            </a:r>
            <a:r>
              <a:rPr dirty="0"/>
              <a:t> </a:t>
            </a:r>
            <a:r>
              <a:rPr dirty="0" err="1"/>
              <a:t>correlazioni</a:t>
            </a:r>
            <a:r>
              <a:rPr dirty="0"/>
              <a:t> &gt; 0.9)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7EC0A-513B-A2C8-7EE4-6942D7E08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3275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B6735-8629-E4E0-64CF-F5AAC9C4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8B6D2-BC4C-345D-2FA2-A10A7789F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E5E85-6010-A044-3030-9EC5964AA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Pre-processing </a:t>
            </a:r>
            <a:r>
              <a:rPr dirty="0" err="1"/>
              <a:t>dettagliato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Pulizia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Rimossi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di Russell (Miami GP) per </a:t>
            </a:r>
            <a:r>
              <a:rPr dirty="0" err="1"/>
              <a:t>malfunzionamento</a:t>
            </a:r>
            <a:r>
              <a:rPr dirty="0"/>
              <a:t> </a:t>
            </a:r>
            <a:r>
              <a:rPr dirty="0" err="1"/>
              <a:t>sensori</a:t>
            </a:r>
            <a:endParaRPr dirty="0"/>
          </a:p>
          <a:p>
            <a:r>
              <a:rPr dirty="0"/>
              <a:t>   - </a:t>
            </a:r>
            <a:r>
              <a:rPr dirty="0" err="1"/>
              <a:t>Eliminati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incompleti</a:t>
            </a:r>
            <a:r>
              <a:rPr dirty="0"/>
              <a:t> (Tsunoda, Bearman, Hadjar)</a:t>
            </a:r>
          </a:p>
          <a:p>
            <a:r>
              <a:rPr dirty="0"/>
              <a:t>   - </a:t>
            </a:r>
            <a:r>
              <a:rPr dirty="0" err="1"/>
              <a:t>Applicata</a:t>
            </a:r>
            <a:r>
              <a:rPr dirty="0"/>
              <a:t> </a:t>
            </a:r>
            <a:r>
              <a:rPr dirty="0" err="1"/>
              <a:t>regola</a:t>
            </a:r>
            <a:r>
              <a:rPr dirty="0"/>
              <a:t> FIA 107%: </a:t>
            </a:r>
            <a:r>
              <a:rPr dirty="0" err="1"/>
              <a:t>esclusi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oltre</a:t>
            </a:r>
            <a:r>
              <a:rPr dirty="0"/>
              <a:t> il 107% del tempo </a:t>
            </a:r>
            <a:r>
              <a:rPr dirty="0" err="1"/>
              <a:t>minimo</a:t>
            </a:r>
            <a:endParaRPr dirty="0"/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Trasformazioni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acc_x</a:t>
            </a:r>
            <a:r>
              <a:rPr dirty="0"/>
              <a:t> separata in </a:t>
            </a:r>
            <a:r>
              <a:rPr dirty="0" err="1"/>
              <a:t>accelerazione</a:t>
            </a:r>
            <a:r>
              <a:rPr dirty="0"/>
              <a:t> (</a:t>
            </a:r>
            <a:r>
              <a:rPr dirty="0" err="1"/>
              <a:t>positiva</a:t>
            </a:r>
            <a:r>
              <a:rPr dirty="0"/>
              <a:t>) e </a:t>
            </a:r>
            <a:r>
              <a:rPr dirty="0" err="1"/>
              <a:t>decelerazione</a:t>
            </a:r>
            <a:r>
              <a:rPr dirty="0"/>
              <a:t> (</a:t>
            </a:r>
            <a:r>
              <a:rPr dirty="0" err="1"/>
              <a:t>negativa</a:t>
            </a:r>
            <a:r>
              <a:rPr dirty="0"/>
              <a:t> in modulo)</a:t>
            </a:r>
          </a:p>
          <a:p>
            <a:r>
              <a:rPr dirty="0"/>
              <a:t>   - </a:t>
            </a:r>
            <a:r>
              <a:rPr dirty="0" err="1"/>
              <a:t>acc_y</a:t>
            </a:r>
            <a:r>
              <a:rPr dirty="0"/>
              <a:t> </a:t>
            </a:r>
            <a:r>
              <a:rPr dirty="0" err="1"/>
              <a:t>trasformata</a:t>
            </a:r>
            <a:r>
              <a:rPr dirty="0"/>
              <a:t> in </a:t>
            </a:r>
            <a:r>
              <a:rPr dirty="0" err="1"/>
              <a:t>valore</a:t>
            </a:r>
            <a:r>
              <a:rPr dirty="0"/>
              <a:t> </a:t>
            </a:r>
            <a:r>
              <a:rPr dirty="0" err="1"/>
              <a:t>assoluto</a:t>
            </a:r>
            <a:r>
              <a:rPr dirty="0"/>
              <a:t>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intensità</a:t>
            </a:r>
            <a:r>
              <a:rPr dirty="0"/>
              <a:t> </a:t>
            </a:r>
            <a:r>
              <a:rPr dirty="0" err="1"/>
              <a:t>forze</a:t>
            </a:r>
            <a:r>
              <a:rPr dirty="0"/>
              <a:t> </a:t>
            </a:r>
            <a:r>
              <a:rPr dirty="0" err="1"/>
              <a:t>laterali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analizzare</a:t>
            </a:r>
            <a:r>
              <a:rPr dirty="0"/>
              <a:t> </a:t>
            </a:r>
            <a:r>
              <a:rPr dirty="0" err="1"/>
              <a:t>separatamente</a:t>
            </a:r>
            <a:r>
              <a:rPr dirty="0"/>
              <a:t> le </a:t>
            </a:r>
            <a:r>
              <a:rPr dirty="0" err="1"/>
              <a:t>fasi</a:t>
            </a:r>
            <a:r>
              <a:rPr dirty="0"/>
              <a:t> di </a:t>
            </a:r>
            <a:r>
              <a:rPr dirty="0" err="1"/>
              <a:t>accelerazione</a:t>
            </a:r>
            <a:r>
              <a:rPr dirty="0"/>
              <a:t> e </a:t>
            </a:r>
            <a:r>
              <a:rPr dirty="0" err="1"/>
              <a:t>frenata</a:t>
            </a:r>
            <a:endParaRPr dirty="0"/>
          </a:p>
          <a:p>
            <a:endParaRPr dirty="0"/>
          </a:p>
          <a:p>
            <a:r>
              <a:rPr dirty="0"/>
              <a:t>3. Feature Engineering:</a:t>
            </a:r>
          </a:p>
          <a:p>
            <a:r>
              <a:rPr dirty="0"/>
              <a:t>   - </a:t>
            </a:r>
            <a:r>
              <a:rPr dirty="0" err="1"/>
              <a:t>Creazione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 lag (lag1, lag5)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temporali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Calcolo</a:t>
            </a:r>
            <a:r>
              <a:rPr dirty="0"/>
              <a:t> </a:t>
            </a:r>
            <a:r>
              <a:rPr dirty="0" err="1"/>
              <a:t>statistiche</a:t>
            </a:r>
            <a:r>
              <a:rPr dirty="0"/>
              <a:t>: media e </a:t>
            </a:r>
            <a:r>
              <a:rPr dirty="0" err="1"/>
              <a:t>deviazione</a:t>
            </a:r>
            <a:r>
              <a:rPr dirty="0"/>
              <a:t> standard per GP e </a:t>
            </a:r>
            <a:r>
              <a:rPr dirty="0" err="1"/>
              <a:t>pilota</a:t>
            </a:r>
            <a:endParaRPr dirty="0"/>
          </a:p>
          <a:p>
            <a:r>
              <a:rPr dirty="0"/>
              <a:t>   - </a:t>
            </a:r>
            <a:r>
              <a:rPr dirty="0" err="1"/>
              <a:t>Coefficienti</a:t>
            </a:r>
            <a:r>
              <a:rPr dirty="0"/>
              <a:t> di </a:t>
            </a:r>
            <a:r>
              <a:rPr dirty="0" err="1"/>
              <a:t>Variazione</a:t>
            </a:r>
            <a:r>
              <a:rPr dirty="0"/>
              <a:t> (CV) per </a:t>
            </a:r>
            <a:r>
              <a:rPr dirty="0" err="1"/>
              <a:t>normalizzare</a:t>
            </a:r>
            <a:r>
              <a:rPr dirty="0"/>
              <a:t> rispetto al setup vettura</a:t>
            </a:r>
          </a:p>
          <a:p>
            <a:r>
              <a:rPr dirty="0"/>
              <a:t>   - </a:t>
            </a:r>
            <a:r>
              <a:rPr dirty="0" err="1"/>
              <a:t>Riscalamento</a:t>
            </a:r>
            <a:r>
              <a:rPr dirty="0"/>
              <a:t> [0,1] per </a:t>
            </a:r>
            <a:r>
              <a:rPr dirty="0" err="1"/>
              <a:t>confrontare</a:t>
            </a:r>
            <a:r>
              <a:rPr dirty="0"/>
              <a:t> </a:t>
            </a:r>
            <a:r>
              <a:rPr dirty="0" err="1"/>
              <a:t>circuiti</a:t>
            </a:r>
            <a:r>
              <a:rPr dirty="0"/>
              <a:t> </a:t>
            </a:r>
            <a:r>
              <a:rPr dirty="0" err="1"/>
              <a:t>diversi</a:t>
            </a:r>
            <a:endParaRPr dirty="0"/>
          </a:p>
          <a:p>
            <a:r>
              <a:rPr dirty="0"/>
              <a:t>   - </a:t>
            </a:r>
            <a:r>
              <a:rPr dirty="0" err="1"/>
              <a:t>Riduzione</a:t>
            </a:r>
            <a:r>
              <a:rPr dirty="0"/>
              <a:t> da 28 a 26 </a:t>
            </a:r>
            <a:r>
              <a:rPr dirty="0" err="1"/>
              <a:t>variabili</a:t>
            </a:r>
            <a:r>
              <a:rPr dirty="0"/>
              <a:t> (</a:t>
            </a:r>
            <a:r>
              <a:rPr dirty="0" err="1"/>
              <a:t>eliminazione</a:t>
            </a:r>
            <a:r>
              <a:rPr dirty="0"/>
              <a:t> </a:t>
            </a:r>
            <a:r>
              <a:rPr dirty="0" err="1"/>
              <a:t>correlazioni</a:t>
            </a:r>
            <a:r>
              <a:rPr dirty="0"/>
              <a:t> &gt; 0.9)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114A5-4D2C-A471-0586-B08842775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3699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65BDE-6A42-C307-BA25-AADB319E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1F4F7-4D10-1057-8922-5D008762D4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97231-E19A-7AFC-3113-E9CC3AFB9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Pre-processing </a:t>
            </a:r>
            <a:r>
              <a:rPr dirty="0" err="1"/>
              <a:t>dettagliato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Pulizia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Rimossi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di Russell (Miami GP) per </a:t>
            </a:r>
            <a:r>
              <a:rPr dirty="0" err="1"/>
              <a:t>malfunzionamento</a:t>
            </a:r>
            <a:r>
              <a:rPr dirty="0"/>
              <a:t> </a:t>
            </a:r>
            <a:r>
              <a:rPr dirty="0" err="1"/>
              <a:t>sensori</a:t>
            </a:r>
            <a:endParaRPr dirty="0"/>
          </a:p>
          <a:p>
            <a:r>
              <a:rPr dirty="0"/>
              <a:t>   - </a:t>
            </a:r>
            <a:r>
              <a:rPr dirty="0" err="1"/>
              <a:t>Eliminati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incompleti</a:t>
            </a:r>
            <a:r>
              <a:rPr dirty="0"/>
              <a:t> (Tsunoda, Bearman, Hadjar)</a:t>
            </a:r>
          </a:p>
          <a:p>
            <a:r>
              <a:rPr dirty="0"/>
              <a:t>   - </a:t>
            </a:r>
            <a:r>
              <a:rPr dirty="0" err="1"/>
              <a:t>Applicata</a:t>
            </a:r>
            <a:r>
              <a:rPr dirty="0"/>
              <a:t> </a:t>
            </a:r>
            <a:r>
              <a:rPr dirty="0" err="1"/>
              <a:t>regola</a:t>
            </a:r>
            <a:r>
              <a:rPr dirty="0"/>
              <a:t> FIA 107%: </a:t>
            </a:r>
            <a:r>
              <a:rPr dirty="0" err="1"/>
              <a:t>esclusi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oltre</a:t>
            </a:r>
            <a:r>
              <a:rPr dirty="0"/>
              <a:t> il 107% del tempo </a:t>
            </a:r>
            <a:r>
              <a:rPr dirty="0" err="1"/>
              <a:t>minimo</a:t>
            </a:r>
            <a:endParaRPr dirty="0"/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Trasformazioni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acc_x</a:t>
            </a:r>
            <a:r>
              <a:rPr dirty="0"/>
              <a:t> separata in </a:t>
            </a:r>
            <a:r>
              <a:rPr dirty="0" err="1"/>
              <a:t>accelerazione</a:t>
            </a:r>
            <a:r>
              <a:rPr dirty="0"/>
              <a:t> (</a:t>
            </a:r>
            <a:r>
              <a:rPr dirty="0" err="1"/>
              <a:t>positiva</a:t>
            </a:r>
            <a:r>
              <a:rPr dirty="0"/>
              <a:t>) e </a:t>
            </a:r>
            <a:r>
              <a:rPr dirty="0" err="1"/>
              <a:t>decelerazione</a:t>
            </a:r>
            <a:r>
              <a:rPr dirty="0"/>
              <a:t> (</a:t>
            </a:r>
            <a:r>
              <a:rPr dirty="0" err="1"/>
              <a:t>negativa</a:t>
            </a:r>
            <a:r>
              <a:rPr dirty="0"/>
              <a:t> in modulo)</a:t>
            </a:r>
          </a:p>
          <a:p>
            <a:r>
              <a:rPr dirty="0"/>
              <a:t>   - </a:t>
            </a:r>
            <a:r>
              <a:rPr dirty="0" err="1"/>
              <a:t>acc_y</a:t>
            </a:r>
            <a:r>
              <a:rPr dirty="0"/>
              <a:t> </a:t>
            </a:r>
            <a:r>
              <a:rPr dirty="0" err="1"/>
              <a:t>trasformata</a:t>
            </a:r>
            <a:r>
              <a:rPr dirty="0"/>
              <a:t> in </a:t>
            </a:r>
            <a:r>
              <a:rPr dirty="0" err="1"/>
              <a:t>valore</a:t>
            </a:r>
            <a:r>
              <a:rPr dirty="0"/>
              <a:t> </a:t>
            </a:r>
            <a:r>
              <a:rPr dirty="0" err="1"/>
              <a:t>assoluto</a:t>
            </a:r>
            <a:r>
              <a:rPr dirty="0"/>
              <a:t>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intensità</a:t>
            </a:r>
            <a:r>
              <a:rPr dirty="0"/>
              <a:t> </a:t>
            </a:r>
            <a:r>
              <a:rPr dirty="0" err="1"/>
              <a:t>forze</a:t>
            </a:r>
            <a:r>
              <a:rPr dirty="0"/>
              <a:t> </a:t>
            </a:r>
            <a:r>
              <a:rPr dirty="0" err="1"/>
              <a:t>laterali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analizzare</a:t>
            </a:r>
            <a:r>
              <a:rPr dirty="0"/>
              <a:t> </a:t>
            </a:r>
            <a:r>
              <a:rPr dirty="0" err="1"/>
              <a:t>separatamente</a:t>
            </a:r>
            <a:r>
              <a:rPr dirty="0"/>
              <a:t> le </a:t>
            </a:r>
            <a:r>
              <a:rPr dirty="0" err="1"/>
              <a:t>fasi</a:t>
            </a:r>
            <a:r>
              <a:rPr dirty="0"/>
              <a:t> di </a:t>
            </a:r>
            <a:r>
              <a:rPr dirty="0" err="1"/>
              <a:t>accelerazione</a:t>
            </a:r>
            <a:r>
              <a:rPr dirty="0"/>
              <a:t> e </a:t>
            </a:r>
            <a:r>
              <a:rPr dirty="0" err="1"/>
              <a:t>frenata</a:t>
            </a:r>
            <a:endParaRPr dirty="0"/>
          </a:p>
          <a:p>
            <a:endParaRPr dirty="0"/>
          </a:p>
          <a:p>
            <a:r>
              <a:rPr dirty="0"/>
              <a:t>3. Feature Engineering:</a:t>
            </a:r>
          </a:p>
          <a:p>
            <a:r>
              <a:rPr dirty="0"/>
              <a:t>   - </a:t>
            </a:r>
            <a:r>
              <a:rPr dirty="0" err="1"/>
              <a:t>Creazione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 lag (lag1, lag5)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temporali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Calcolo</a:t>
            </a:r>
            <a:r>
              <a:rPr dirty="0"/>
              <a:t> </a:t>
            </a:r>
            <a:r>
              <a:rPr dirty="0" err="1"/>
              <a:t>statistiche</a:t>
            </a:r>
            <a:r>
              <a:rPr dirty="0"/>
              <a:t>: media e </a:t>
            </a:r>
            <a:r>
              <a:rPr dirty="0" err="1"/>
              <a:t>deviazione</a:t>
            </a:r>
            <a:r>
              <a:rPr dirty="0"/>
              <a:t> standard per GP e </a:t>
            </a:r>
            <a:r>
              <a:rPr dirty="0" err="1"/>
              <a:t>pilota</a:t>
            </a:r>
            <a:endParaRPr dirty="0"/>
          </a:p>
          <a:p>
            <a:r>
              <a:rPr dirty="0"/>
              <a:t>   - </a:t>
            </a:r>
            <a:r>
              <a:rPr dirty="0" err="1"/>
              <a:t>Coefficienti</a:t>
            </a:r>
            <a:r>
              <a:rPr dirty="0"/>
              <a:t> di </a:t>
            </a:r>
            <a:r>
              <a:rPr dirty="0" err="1"/>
              <a:t>Variazione</a:t>
            </a:r>
            <a:r>
              <a:rPr dirty="0"/>
              <a:t> (CV) per </a:t>
            </a:r>
            <a:r>
              <a:rPr dirty="0" err="1"/>
              <a:t>normalizzare</a:t>
            </a:r>
            <a:r>
              <a:rPr dirty="0"/>
              <a:t> rispetto al setup vettura</a:t>
            </a:r>
          </a:p>
          <a:p>
            <a:r>
              <a:rPr dirty="0"/>
              <a:t>   - </a:t>
            </a:r>
            <a:r>
              <a:rPr dirty="0" err="1"/>
              <a:t>Riscalamento</a:t>
            </a:r>
            <a:r>
              <a:rPr dirty="0"/>
              <a:t> [0,1] per </a:t>
            </a:r>
            <a:r>
              <a:rPr dirty="0" err="1"/>
              <a:t>confrontare</a:t>
            </a:r>
            <a:r>
              <a:rPr dirty="0"/>
              <a:t> </a:t>
            </a:r>
            <a:r>
              <a:rPr dirty="0" err="1"/>
              <a:t>circuiti</a:t>
            </a:r>
            <a:r>
              <a:rPr dirty="0"/>
              <a:t> </a:t>
            </a:r>
            <a:r>
              <a:rPr dirty="0" err="1"/>
              <a:t>diversi</a:t>
            </a:r>
            <a:endParaRPr dirty="0"/>
          </a:p>
          <a:p>
            <a:r>
              <a:rPr dirty="0"/>
              <a:t>   - </a:t>
            </a:r>
            <a:r>
              <a:rPr dirty="0" err="1"/>
              <a:t>Riduzione</a:t>
            </a:r>
            <a:r>
              <a:rPr dirty="0"/>
              <a:t> da 28 a 26 </a:t>
            </a:r>
            <a:r>
              <a:rPr dirty="0" err="1"/>
              <a:t>variabili</a:t>
            </a:r>
            <a:r>
              <a:rPr dirty="0"/>
              <a:t> (</a:t>
            </a:r>
            <a:r>
              <a:rPr dirty="0" err="1"/>
              <a:t>eliminazione</a:t>
            </a:r>
            <a:r>
              <a:rPr dirty="0"/>
              <a:t> </a:t>
            </a:r>
            <a:r>
              <a:rPr dirty="0" err="1"/>
              <a:t>correlazioni</a:t>
            </a:r>
            <a:r>
              <a:rPr dirty="0"/>
              <a:t> &gt; 0.9)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F8FE1-E1F4-A062-BCDF-AA23DD39D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9911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E7AF-74EE-665B-B95D-46D60E06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3E89B-75AE-656E-99CC-1830B35E83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B60A7-D228-6B28-D40E-C3ACA32AA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Pre-processing </a:t>
            </a:r>
            <a:r>
              <a:rPr dirty="0" err="1"/>
              <a:t>dettagliato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Pulizia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Rimossi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di Russell (Miami GP) per </a:t>
            </a:r>
            <a:r>
              <a:rPr dirty="0" err="1"/>
              <a:t>malfunzionamento</a:t>
            </a:r>
            <a:r>
              <a:rPr dirty="0"/>
              <a:t> </a:t>
            </a:r>
            <a:r>
              <a:rPr dirty="0" err="1"/>
              <a:t>sensori</a:t>
            </a:r>
            <a:endParaRPr dirty="0"/>
          </a:p>
          <a:p>
            <a:r>
              <a:rPr dirty="0"/>
              <a:t>   - </a:t>
            </a:r>
            <a:r>
              <a:rPr dirty="0" err="1"/>
              <a:t>Eliminati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incompleti</a:t>
            </a:r>
            <a:r>
              <a:rPr dirty="0"/>
              <a:t> (Tsunoda, Bearman, Hadjar)</a:t>
            </a:r>
          </a:p>
          <a:p>
            <a:r>
              <a:rPr dirty="0"/>
              <a:t>   - </a:t>
            </a:r>
            <a:r>
              <a:rPr dirty="0" err="1"/>
              <a:t>Applicata</a:t>
            </a:r>
            <a:r>
              <a:rPr dirty="0"/>
              <a:t> </a:t>
            </a:r>
            <a:r>
              <a:rPr dirty="0" err="1"/>
              <a:t>regola</a:t>
            </a:r>
            <a:r>
              <a:rPr dirty="0"/>
              <a:t> FIA 107%: </a:t>
            </a:r>
            <a:r>
              <a:rPr dirty="0" err="1"/>
              <a:t>esclusi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oltre</a:t>
            </a:r>
            <a:r>
              <a:rPr dirty="0"/>
              <a:t> il 107% del tempo </a:t>
            </a:r>
            <a:r>
              <a:rPr dirty="0" err="1"/>
              <a:t>minimo</a:t>
            </a:r>
            <a:endParaRPr dirty="0"/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Trasformazioni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acc_x</a:t>
            </a:r>
            <a:r>
              <a:rPr dirty="0"/>
              <a:t> separata in </a:t>
            </a:r>
            <a:r>
              <a:rPr dirty="0" err="1"/>
              <a:t>accelerazione</a:t>
            </a:r>
            <a:r>
              <a:rPr dirty="0"/>
              <a:t> (</a:t>
            </a:r>
            <a:r>
              <a:rPr dirty="0" err="1"/>
              <a:t>positiva</a:t>
            </a:r>
            <a:r>
              <a:rPr dirty="0"/>
              <a:t>) e </a:t>
            </a:r>
            <a:r>
              <a:rPr dirty="0" err="1"/>
              <a:t>decelerazione</a:t>
            </a:r>
            <a:r>
              <a:rPr dirty="0"/>
              <a:t> (</a:t>
            </a:r>
            <a:r>
              <a:rPr dirty="0" err="1"/>
              <a:t>negativa</a:t>
            </a:r>
            <a:r>
              <a:rPr dirty="0"/>
              <a:t> in modulo)</a:t>
            </a:r>
          </a:p>
          <a:p>
            <a:r>
              <a:rPr dirty="0"/>
              <a:t>   - </a:t>
            </a:r>
            <a:r>
              <a:rPr dirty="0" err="1"/>
              <a:t>acc_y</a:t>
            </a:r>
            <a:r>
              <a:rPr dirty="0"/>
              <a:t> </a:t>
            </a:r>
            <a:r>
              <a:rPr dirty="0" err="1"/>
              <a:t>trasformata</a:t>
            </a:r>
            <a:r>
              <a:rPr dirty="0"/>
              <a:t> in </a:t>
            </a:r>
            <a:r>
              <a:rPr dirty="0" err="1"/>
              <a:t>valore</a:t>
            </a:r>
            <a:r>
              <a:rPr dirty="0"/>
              <a:t> </a:t>
            </a:r>
            <a:r>
              <a:rPr dirty="0" err="1"/>
              <a:t>assoluto</a:t>
            </a:r>
            <a:r>
              <a:rPr dirty="0"/>
              <a:t>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intensità</a:t>
            </a:r>
            <a:r>
              <a:rPr dirty="0"/>
              <a:t> </a:t>
            </a:r>
            <a:r>
              <a:rPr dirty="0" err="1"/>
              <a:t>forze</a:t>
            </a:r>
            <a:r>
              <a:rPr dirty="0"/>
              <a:t> </a:t>
            </a:r>
            <a:r>
              <a:rPr dirty="0" err="1"/>
              <a:t>laterali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analizzare</a:t>
            </a:r>
            <a:r>
              <a:rPr dirty="0"/>
              <a:t> </a:t>
            </a:r>
            <a:r>
              <a:rPr dirty="0" err="1"/>
              <a:t>separatamente</a:t>
            </a:r>
            <a:r>
              <a:rPr dirty="0"/>
              <a:t> le </a:t>
            </a:r>
            <a:r>
              <a:rPr dirty="0" err="1"/>
              <a:t>fasi</a:t>
            </a:r>
            <a:r>
              <a:rPr dirty="0"/>
              <a:t> di </a:t>
            </a:r>
            <a:r>
              <a:rPr dirty="0" err="1"/>
              <a:t>accelerazione</a:t>
            </a:r>
            <a:r>
              <a:rPr dirty="0"/>
              <a:t> e </a:t>
            </a:r>
            <a:r>
              <a:rPr dirty="0" err="1"/>
              <a:t>frenata</a:t>
            </a:r>
            <a:endParaRPr dirty="0"/>
          </a:p>
          <a:p>
            <a:endParaRPr dirty="0"/>
          </a:p>
          <a:p>
            <a:r>
              <a:rPr dirty="0"/>
              <a:t>3. Feature Engineering:</a:t>
            </a:r>
          </a:p>
          <a:p>
            <a:r>
              <a:rPr dirty="0"/>
              <a:t>   - </a:t>
            </a:r>
            <a:r>
              <a:rPr dirty="0" err="1"/>
              <a:t>Creazione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 lag (lag1, lag5)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temporali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Calcolo</a:t>
            </a:r>
            <a:r>
              <a:rPr dirty="0"/>
              <a:t> </a:t>
            </a:r>
            <a:r>
              <a:rPr dirty="0" err="1"/>
              <a:t>statistiche</a:t>
            </a:r>
            <a:r>
              <a:rPr dirty="0"/>
              <a:t>: media e </a:t>
            </a:r>
            <a:r>
              <a:rPr dirty="0" err="1"/>
              <a:t>deviazione</a:t>
            </a:r>
            <a:r>
              <a:rPr dirty="0"/>
              <a:t> standard per GP e </a:t>
            </a:r>
            <a:r>
              <a:rPr dirty="0" err="1"/>
              <a:t>pilota</a:t>
            </a:r>
            <a:endParaRPr dirty="0"/>
          </a:p>
          <a:p>
            <a:r>
              <a:rPr dirty="0"/>
              <a:t>   - </a:t>
            </a:r>
            <a:r>
              <a:rPr dirty="0" err="1"/>
              <a:t>Coefficienti</a:t>
            </a:r>
            <a:r>
              <a:rPr dirty="0"/>
              <a:t> di </a:t>
            </a:r>
            <a:r>
              <a:rPr dirty="0" err="1"/>
              <a:t>Variazione</a:t>
            </a:r>
            <a:r>
              <a:rPr dirty="0"/>
              <a:t> (CV) per </a:t>
            </a:r>
            <a:r>
              <a:rPr dirty="0" err="1"/>
              <a:t>normalizzare</a:t>
            </a:r>
            <a:r>
              <a:rPr dirty="0"/>
              <a:t> rispetto al setup vettura</a:t>
            </a:r>
          </a:p>
          <a:p>
            <a:r>
              <a:rPr dirty="0"/>
              <a:t>   - </a:t>
            </a:r>
            <a:r>
              <a:rPr dirty="0" err="1"/>
              <a:t>Riscalamento</a:t>
            </a:r>
            <a:r>
              <a:rPr dirty="0"/>
              <a:t> [0,1] per </a:t>
            </a:r>
            <a:r>
              <a:rPr dirty="0" err="1"/>
              <a:t>confrontare</a:t>
            </a:r>
            <a:r>
              <a:rPr dirty="0"/>
              <a:t> </a:t>
            </a:r>
            <a:r>
              <a:rPr dirty="0" err="1"/>
              <a:t>circuiti</a:t>
            </a:r>
            <a:r>
              <a:rPr dirty="0"/>
              <a:t> </a:t>
            </a:r>
            <a:r>
              <a:rPr dirty="0" err="1"/>
              <a:t>diversi</a:t>
            </a:r>
            <a:endParaRPr dirty="0"/>
          </a:p>
          <a:p>
            <a:r>
              <a:rPr dirty="0"/>
              <a:t>   - </a:t>
            </a:r>
            <a:r>
              <a:rPr dirty="0" err="1"/>
              <a:t>Riduzione</a:t>
            </a:r>
            <a:r>
              <a:rPr dirty="0"/>
              <a:t> da 28 a 26 </a:t>
            </a:r>
            <a:r>
              <a:rPr dirty="0" err="1"/>
              <a:t>variabili</a:t>
            </a:r>
            <a:r>
              <a:rPr dirty="0"/>
              <a:t> (</a:t>
            </a:r>
            <a:r>
              <a:rPr dirty="0" err="1"/>
              <a:t>eliminazione</a:t>
            </a:r>
            <a:r>
              <a:rPr dirty="0"/>
              <a:t> </a:t>
            </a:r>
            <a:r>
              <a:rPr dirty="0" err="1"/>
              <a:t>correlazioni</a:t>
            </a:r>
            <a:r>
              <a:rPr dirty="0"/>
              <a:t> &gt; 0.9)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3B916-2F00-5B52-86E7-EB3BF0B93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63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Analisi</a:t>
            </a:r>
            <a:r>
              <a:rPr dirty="0"/>
              <a:t> delle </a:t>
            </a:r>
            <a:r>
              <a:rPr dirty="0" err="1"/>
              <a:t>Componenti</a:t>
            </a:r>
            <a:r>
              <a:rPr dirty="0"/>
              <a:t> </a:t>
            </a:r>
            <a:r>
              <a:rPr dirty="0" err="1"/>
              <a:t>Principali</a:t>
            </a:r>
            <a:r>
              <a:rPr dirty="0"/>
              <a:t> (PCA):</a:t>
            </a:r>
          </a:p>
          <a:p>
            <a:endParaRPr dirty="0"/>
          </a:p>
          <a:p>
            <a:r>
              <a:rPr dirty="0" err="1"/>
              <a:t>Obiettivo</a:t>
            </a:r>
            <a:r>
              <a:rPr dirty="0"/>
              <a:t>: </a:t>
            </a:r>
            <a:r>
              <a:rPr dirty="0" err="1"/>
              <a:t>ridurre</a:t>
            </a:r>
            <a:r>
              <a:rPr dirty="0"/>
              <a:t> la </a:t>
            </a:r>
            <a:r>
              <a:rPr dirty="0" err="1"/>
              <a:t>dimensionalità</a:t>
            </a:r>
            <a:r>
              <a:rPr dirty="0"/>
              <a:t> da 26 </a:t>
            </a:r>
            <a:r>
              <a:rPr dirty="0" err="1"/>
              <a:t>variabili</a:t>
            </a:r>
            <a:r>
              <a:rPr dirty="0"/>
              <a:t> a 4 </a:t>
            </a:r>
            <a:r>
              <a:rPr dirty="0" err="1"/>
              <a:t>componenti</a:t>
            </a:r>
            <a:r>
              <a:rPr dirty="0"/>
              <a:t> </a:t>
            </a:r>
            <a:r>
              <a:rPr dirty="0" err="1"/>
              <a:t>principali</a:t>
            </a:r>
            <a:r>
              <a:rPr dirty="0"/>
              <a:t> </a:t>
            </a:r>
            <a:r>
              <a:rPr dirty="0" err="1"/>
              <a:t>interpretabili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Risultati</a:t>
            </a:r>
            <a:r>
              <a:rPr dirty="0"/>
              <a:t>:</a:t>
            </a:r>
          </a:p>
          <a:p>
            <a:r>
              <a:rPr dirty="0"/>
              <a:t>- Comp.1: ~25% </a:t>
            </a:r>
            <a:r>
              <a:rPr dirty="0" err="1"/>
              <a:t>varianza</a:t>
            </a:r>
            <a:endParaRPr dirty="0"/>
          </a:p>
          <a:p>
            <a:r>
              <a:rPr dirty="0"/>
              <a:t>- Comp.2: ~15% </a:t>
            </a:r>
            <a:r>
              <a:rPr dirty="0" err="1"/>
              <a:t>varianza</a:t>
            </a:r>
            <a:endParaRPr dirty="0"/>
          </a:p>
          <a:p>
            <a:r>
              <a:rPr dirty="0"/>
              <a:t>- Comp.3: ~12% </a:t>
            </a:r>
            <a:r>
              <a:rPr dirty="0" err="1"/>
              <a:t>varianza</a:t>
            </a:r>
            <a:endParaRPr dirty="0"/>
          </a:p>
          <a:p>
            <a:r>
              <a:rPr dirty="0"/>
              <a:t>- Comp.4: ~10% </a:t>
            </a:r>
            <a:r>
              <a:rPr dirty="0" err="1"/>
              <a:t>varianza</a:t>
            </a:r>
            <a:endParaRPr dirty="0"/>
          </a:p>
          <a:p>
            <a:r>
              <a:rPr dirty="0"/>
              <a:t>- </a:t>
            </a:r>
            <a:r>
              <a:rPr dirty="0" err="1"/>
              <a:t>Totale</a:t>
            </a:r>
            <a:r>
              <a:rPr dirty="0"/>
              <a:t>: &gt;60% </a:t>
            </a:r>
            <a:r>
              <a:rPr dirty="0" err="1"/>
              <a:t>varianza</a:t>
            </a:r>
            <a:r>
              <a:rPr dirty="0"/>
              <a:t> </a:t>
            </a:r>
            <a:r>
              <a:rPr dirty="0" err="1"/>
              <a:t>spiegata</a:t>
            </a:r>
            <a:endParaRPr dirty="0"/>
          </a:p>
          <a:p>
            <a:endParaRPr dirty="0"/>
          </a:p>
          <a:p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di:</a:t>
            </a:r>
          </a:p>
          <a:p>
            <a:r>
              <a:rPr dirty="0"/>
              <a:t>1. </a:t>
            </a:r>
            <a:r>
              <a:rPr dirty="0" err="1"/>
              <a:t>Ridurre</a:t>
            </a:r>
            <a:r>
              <a:rPr dirty="0"/>
              <a:t> il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computazionale</a:t>
            </a:r>
            <a:r>
              <a:rPr dirty="0"/>
              <a:t> del clustering</a:t>
            </a:r>
          </a:p>
          <a:p>
            <a:r>
              <a:rPr dirty="0"/>
              <a:t>2. </a:t>
            </a:r>
            <a:r>
              <a:rPr dirty="0" err="1"/>
              <a:t>Eliminare</a:t>
            </a:r>
            <a:r>
              <a:rPr dirty="0"/>
              <a:t> </a:t>
            </a:r>
            <a:r>
              <a:rPr dirty="0" err="1"/>
              <a:t>rumore</a:t>
            </a:r>
            <a:r>
              <a:rPr dirty="0"/>
              <a:t> e </a:t>
            </a:r>
            <a:r>
              <a:rPr dirty="0" err="1"/>
              <a:t>ridondanza</a:t>
            </a:r>
            <a:endParaRPr dirty="0"/>
          </a:p>
          <a:p>
            <a:r>
              <a:rPr dirty="0"/>
              <a:t>3. </a:t>
            </a:r>
            <a:r>
              <a:rPr dirty="0" err="1"/>
              <a:t>Ottenere</a:t>
            </a:r>
            <a:r>
              <a:rPr dirty="0"/>
              <a:t> </a:t>
            </a:r>
            <a:r>
              <a:rPr dirty="0" err="1"/>
              <a:t>componenti</a:t>
            </a:r>
            <a:r>
              <a:rPr dirty="0"/>
              <a:t> </a:t>
            </a:r>
            <a:r>
              <a:rPr dirty="0" err="1"/>
              <a:t>interpretabili</a:t>
            </a:r>
            <a:r>
              <a:rPr dirty="0"/>
              <a:t> dal punto di vista </a:t>
            </a:r>
            <a:r>
              <a:rPr dirty="0" err="1"/>
              <a:t>fisico</a:t>
            </a:r>
            <a:r>
              <a:rPr dirty="0"/>
              <a:t>/</a:t>
            </a:r>
            <a:r>
              <a:rPr dirty="0" err="1"/>
              <a:t>tecnico</a:t>
            </a:r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Interpretazione</a:t>
            </a:r>
            <a:r>
              <a:rPr dirty="0"/>
              <a:t> delle 4 </a:t>
            </a:r>
            <a:r>
              <a:rPr dirty="0" err="1"/>
              <a:t>componenti</a:t>
            </a:r>
            <a:r>
              <a:rPr dirty="0"/>
              <a:t> </a:t>
            </a:r>
            <a:r>
              <a:rPr dirty="0" err="1"/>
              <a:t>principali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1. IN_OUT (Comp.1):</a:t>
            </a:r>
          </a:p>
          <a:p>
            <a:r>
              <a:rPr dirty="0"/>
              <a:t>   - </a:t>
            </a:r>
            <a:r>
              <a:rPr dirty="0" err="1"/>
              <a:t>Separa</a:t>
            </a:r>
            <a:r>
              <a:rPr dirty="0"/>
              <a:t> </a:t>
            </a:r>
            <a:r>
              <a:rPr dirty="0" err="1"/>
              <a:t>stili</a:t>
            </a:r>
            <a:r>
              <a:rPr dirty="0"/>
              <a:t> con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variabilità</a:t>
            </a:r>
            <a:r>
              <a:rPr dirty="0"/>
              <a:t> </a:t>
            </a:r>
            <a:r>
              <a:rPr dirty="0" err="1"/>
              <a:t>nell'erogazione</a:t>
            </a:r>
            <a:r>
              <a:rPr dirty="0"/>
              <a:t> </a:t>
            </a:r>
            <a:r>
              <a:rPr dirty="0" err="1"/>
              <a:t>potenza</a:t>
            </a:r>
            <a:r>
              <a:rPr dirty="0"/>
              <a:t> vs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variabilità</a:t>
            </a:r>
            <a:r>
              <a:rPr dirty="0"/>
              <a:t> in </a:t>
            </a:r>
            <a:r>
              <a:rPr dirty="0" err="1"/>
              <a:t>decelerazione</a:t>
            </a:r>
            <a:endParaRPr dirty="0"/>
          </a:p>
          <a:p>
            <a:r>
              <a:rPr dirty="0"/>
              <a:t>   - Score alti: </a:t>
            </a:r>
            <a:r>
              <a:rPr dirty="0" err="1"/>
              <a:t>trazione</a:t>
            </a:r>
            <a:r>
              <a:rPr dirty="0"/>
              <a:t> "</a:t>
            </a:r>
            <a:r>
              <a:rPr dirty="0" err="1"/>
              <a:t>sporca</a:t>
            </a:r>
            <a:r>
              <a:rPr dirty="0"/>
              <a:t>" con </a:t>
            </a:r>
            <a:r>
              <a:rPr dirty="0" err="1"/>
              <a:t>correzioni</a:t>
            </a:r>
            <a:r>
              <a:rPr dirty="0"/>
              <a:t> continue </a:t>
            </a:r>
            <a:r>
              <a:rPr dirty="0" err="1"/>
              <a:t>sull'acceleratore</a:t>
            </a:r>
            <a:endParaRPr dirty="0"/>
          </a:p>
          <a:p>
            <a:r>
              <a:rPr dirty="0"/>
              <a:t>   - Score </a:t>
            </a:r>
            <a:r>
              <a:rPr dirty="0" err="1"/>
              <a:t>bassi</a:t>
            </a:r>
            <a:r>
              <a:rPr dirty="0"/>
              <a:t>: </a:t>
            </a:r>
            <a:r>
              <a:rPr dirty="0" err="1"/>
              <a:t>frenata</a:t>
            </a:r>
            <a:r>
              <a:rPr dirty="0"/>
              <a:t> </a:t>
            </a:r>
            <a:r>
              <a:rPr dirty="0" err="1"/>
              <a:t>modulata</a:t>
            </a:r>
            <a:r>
              <a:rPr dirty="0"/>
              <a:t>, </a:t>
            </a:r>
            <a:r>
              <a:rPr dirty="0" err="1"/>
              <a:t>uscita</a:t>
            </a:r>
            <a:r>
              <a:rPr dirty="0"/>
              <a:t> curva </a:t>
            </a:r>
            <a:r>
              <a:rPr dirty="0" err="1"/>
              <a:t>composta</a:t>
            </a:r>
            <a:r>
              <a:rPr dirty="0"/>
              <a:t> e </a:t>
            </a:r>
            <a:r>
              <a:rPr dirty="0" err="1"/>
              <a:t>lineare</a:t>
            </a:r>
            <a:endParaRPr dirty="0"/>
          </a:p>
          <a:p>
            <a:endParaRPr dirty="0"/>
          </a:p>
          <a:p>
            <a:r>
              <a:rPr dirty="0"/>
              <a:t>2. C_SHAPE (Comp.2):</a:t>
            </a:r>
          </a:p>
          <a:p>
            <a:r>
              <a:rPr dirty="0"/>
              <a:t>   - Distingue </a:t>
            </a:r>
            <a:r>
              <a:rPr dirty="0" err="1"/>
              <a:t>guida</a:t>
            </a:r>
            <a:r>
              <a:rPr dirty="0"/>
              <a:t> </a:t>
            </a:r>
            <a:r>
              <a:rPr dirty="0" err="1"/>
              <a:t>basata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velocità</a:t>
            </a:r>
            <a:r>
              <a:rPr dirty="0"/>
              <a:t> pura (long.) vs </a:t>
            </a:r>
            <a:r>
              <a:rPr dirty="0" err="1"/>
              <a:t>velocità</a:t>
            </a:r>
            <a:r>
              <a:rPr dirty="0"/>
              <a:t> di </a:t>
            </a:r>
            <a:r>
              <a:rPr dirty="0" err="1"/>
              <a:t>percorrenza</a:t>
            </a:r>
            <a:r>
              <a:rPr dirty="0"/>
              <a:t> (lat.)</a:t>
            </a:r>
          </a:p>
          <a:p>
            <a:r>
              <a:rPr dirty="0"/>
              <a:t>   - Score alti: stile a "V" (</a:t>
            </a:r>
            <a:r>
              <a:rPr dirty="0" err="1"/>
              <a:t>frenata</a:t>
            </a:r>
            <a:r>
              <a:rPr dirty="0"/>
              <a:t> </a:t>
            </a:r>
            <a:r>
              <a:rPr dirty="0" err="1"/>
              <a:t>profonda</a:t>
            </a:r>
            <a:r>
              <a:rPr dirty="0"/>
              <a:t>, </a:t>
            </a:r>
            <a:r>
              <a:rPr dirty="0" err="1"/>
              <a:t>ripartenza</a:t>
            </a:r>
            <a:r>
              <a:rPr dirty="0"/>
              <a:t> </a:t>
            </a:r>
            <a:r>
              <a:rPr dirty="0" err="1"/>
              <a:t>rapida</a:t>
            </a:r>
            <a:r>
              <a:rPr dirty="0"/>
              <a:t>)</a:t>
            </a:r>
          </a:p>
          <a:p>
            <a:r>
              <a:rPr dirty="0"/>
              <a:t>   - Score </a:t>
            </a:r>
            <a:r>
              <a:rPr dirty="0" err="1"/>
              <a:t>bassi</a:t>
            </a:r>
            <a:r>
              <a:rPr dirty="0"/>
              <a:t>: stile </a:t>
            </a:r>
            <a:r>
              <a:rPr dirty="0" err="1"/>
              <a:t>basato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velocità</a:t>
            </a:r>
            <a:r>
              <a:rPr dirty="0"/>
              <a:t> di </a:t>
            </a:r>
            <a:r>
              <a:rPr dirty="0" err="1"/>
              <a:t>percorrenza</a:t>
            </a:r>
            <a:r>
              <a:rPr dirty="0"/>
              <a:t> e </a:t>
            </a:r>
            <a:r>
              <a:rPr dirty="0" err="1"/>
              <a:t>gestione</a:t>
            </a:r>
            <a:r>
              <a:rPr dirty="0"/>
              <a:t> </a:t>
            </a:r>
            <a:r>
              <a:rPr dirty="0" err="1"/>
              <a:t>carico</a:t>
            </a:r>
            <a:r>
              <a:rPr dirty="0"/>
              <a:t> </a:t>
            </a:r>
            <a:r>
              <a:rPr dirty="0" err="1"/>
              <a:t>laterale</a:t>
            </a:r>
            <a:endParaRPr dirty="0"/>
          </a:p>
          <a:p>
            <a:endParaRPr dirty="0"/>
          </a:p>
          <a:p>
            <a:r>
              <a:rPr dirty="0"/>
              <a:t>3. TRANS (Comp.3):</a:t>
            </a:r>
          </a:p>
          <a:p>
            <a:r>
              <a:rPr dirty="0"/>
              <a:t>   - </a:t>
            </a:r>
            <a:r>
              <a:rPr dirty="0" err="1"/>
              <a:t>Discrimina</a:t>
            </a:r>
            <a:r>
              <a:rPr dirty="0"/>
              <a:t> le </a:t>
            </a:r>
            <a:r>
              <a:rPr dirty="0" err="1"/>
              <a:t>fasi</a:t>
            </a:r>
            <a:r>
              <a:rPr dirty="0"/>
              <a:t> della curva</a:t>
            </a:r>
          </a:p>
          <a:p>
            <a:r>
              <a:rPr dirty="0"/>
              <a:t>   - Score alti: </a:t>
            </a:r>
            <a:r>
              <a:rPr dirty="0" err="1"/>
              <a:t>forti</a:t>
            </a:r>
            <a:r>
              <a:rPr dirty="0"/>
              <a:t> </a:t>
            </a:r>
            <a:r>
              <a:rPr dirty="0" err="1"/>
              <a:t>staccate</a:t>
            </a:r>
            <a:r>
              <a:rPr dirty="0"/>
              <a:t>, </a:t>
            </a:r>
            <a:r>
              <a:rPr dirty="0" err="1"/>
              <a:t>forti</a:t>
            </a:r>
            <a:r>
              <a:rPr dirty="0"/>
              <a:t> </a:t>
            </a:r>
            <a:r>
              <a:rPr dirty="0" err="1"/>
              <a:t>accelerazioni</a:t>
            </a:r>
            <a:r>
              <a:rPr dirty="0"/>
              <a:t>, </a:t>
            </a:r>
            <a:r>
              <a:rPr dirty="0" err="1"/>
              <a:t>bassa</a:t>
            </a:r>
            <a:r>
              <a:rPr dirty="0"/>
              <a:t> </a:t>
            </a:r>
            <a:r>
              <a:rPr dirty="0" err="1"/>
              <a:t>velocità</a:t>
            </a:r>
            <a:r>
              <a:rPr dirty="0"/>
              <a:t> </a:t>
            </a:r>
            <a:r>
              <a:rPr dirty="0" err="1"/>
              <a:t>percorrenza</a:t>
            </a:r>
            <a:endParaRPr dirty="0"/>
          </a:p>
          <a:p>
            <a:r>
              <a:rPr dirty="0"/>
              <a:t>   - Score </a:t>
            </a:r>
            <a:r>
              <a:rPr dirty="0" err="1"/>
              <a:t>bassi</a:t>
            </a:r>
            <a:r>
              <a:rPr dirty="0"/>
              <a:t>: </a:t>
            </a:r>
            <a:r>
              <a:rPr dirty="0" err="1"/>
              <a:t>alte</a:t>
            </a:r>
            <a:r>
              <a:rPr dirty="0"/>
              <a:t> </a:t>
            </a:r>
            <a:r>
              <a:rPr dirty="0" err="1"/>
              <a:t>velocità</a:t>
            </a:r>
            <a:r>
              <a:rPr dirty="0"/>
              <a:t> </a:t>
            </a:r>
            <a:r>
              <a:rPr dirty="0" err="1"/>
              <a:t>percorrenza</a:t>
            </a:r>
            <a:r>
              <a:rPr dirty="0"/>
              <a:t>, </a:t>
            </a:r>
            <a:r>
              <a:rPr dirty="0" err="1"/>
              <a:t>poca</a:t>
            </a:r>
            <a:r>
              <a:rPr dirty="0"/>
              <a:t> </a:t>
            </a:r>
            <a:r>
              <a:rPr dirty="0" err="1"/>
              <a:t>variazione</a:t>
            </a:r>
            <a:r>
              <a:rPr dirty="0"/>
              <a:t> </a:t>
            </a:r>
            <a:r>
              <a:rPr dirty="0" err="1"/>
              <a:t>longitudinale</a:t>
            </a:r>
            <a:endParaRPr dirty="0"/>
          </a:p>
          <a:p>
            <a:endParaRPr dirty="0"/>
          </a:p>
          <a:p>
            <a:r>
              <a:rPr dirty="0"/>
              <a:t>4. TRACK (Comp.4):</a:t>
            </a:r>
          </a:p>
          <a:p>
            <a:r>
              <a:rPr dirty="0"/>
              <a:t>   - </a:t>
            </a:r>
            <a:r>
              <a:rPr dirty="0" err="1"/>
              <a:t>Caratterizza</a:t>
            </a:r>
            <a:r>
              <a:rPr dirty="0"/>
              <a:t> la </a:t>
            </a:r>
            <a:r>
              <a:rPr dirty="0" err="1"/>
              <a:t>configurazione</a:t>
            </a:r>
            <a:r>
              <a:rPr dirty="0"/>
              <a:t> della </a:t>
            </a:r>
            <a:r>
              <a:rPr dirty="0" err="1"/>
              <a:t>pista</a:t>
            </a:r>
            <a:endParaRPr dirty="0"/>
          </a:p>
          <a:p>
            <a:r>
              <a:rPr dirty="0"/>
              <a:t>   - Score alti: </a:t>
            </a:r>
            <a:r>
              <a:rPr dirty="0" err="1"/>
              <a:t>maggiore</a:t>
            </a:r>
            <a:r>
              <a:rPr dirty="0"/>
              <a:t> </a:t>
            </a:r>
            <a:r>
              <a:rPr dirty="0" err="1"/>
              <a:t>variabilità</a:t>
            </a:r>
            <a:r>
              <a:rPr dirty="0"/>
              <a:t> </a:t>
            </a:r>
            <a:r>
              <a:rPr dirty="0" err="1"/>
              <a:t>velocità</a:t>
            </a:r>
            <a:endParaRPr dirty="0"/>
          </a:p>
          <a:p>
            <a:r>
              <a:rPr dirty="0"/>
              <a:t>   - Score </a:t>
            </a:r>
            <a:r>
              <a:rPr dirty="0" err="1"/>
              <a:t>bassi</a:t>
            </a:r>
            <a:r>
              <a:rPr dirty="0"/>
              <a:t>: </a:t>
            </a:r>
            <a:r>
              <a:rPr dirty="0" err="1"/>
              <a:t>andamento</a:t>
            </a:r>
            <a:r>
              <a:rPr dirty="0"/>
              <a:t> </a:t>
            </a:r>
            <a:r>
              <a:rPr dirty="0" err="1"/>
              <a:t>regolare</a:t>
            </a:r>
            <a:r>
              <a:rPr dirty="0"/>
              <a:t> e </a:t>
            </a:r>
            <a:r>
              <a:rPr dirty="0" err="1"/>
              <a:t>uniforme</a:t>
            </a:r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Model-Based Clustering - Primo Modello:</a:t>
            </a:r>
          </a:p>
          <a:p>
            <a:endParaRPr/>
          </a:p>
          <a:p>
            <a:r>
              <a:t>Modello selezionato: VII (Volume variabile, forma sferica, orientamento identico)</a:t>
            </a:r>
          </a:p>
          <a:p>
            <a:r>
              <a:t>- 13 cluster identificati</a:t>
            </a:r>
          </a:p>
          <a:p>
            <a:r>
              <a:t>- 77 parametri stimati</a:t>
            </a:r>
          </a:p>
          <a:p>
            <a:r>
              <a:t>- BIC = -7108.435</a:t>
            </a:r>
          </a:p>
          <a:p>
            <a:r>
              <a:t>- KL distance = 89.622</a:t>
            </a:r>
          </a:p>
          <a:p>
            <a:r>
              <a:t>- Incertezza media = 0.0796</a:t>
            </a:r>
          </a:p>
          <a:p>
            <a:endParaRPr/>
          </a:p>
          <a:p>
            <a:r>
              <a:t>Il grafico mostra la separazione dei cluster nello spazio delle prime due componenti (IN_OUT vs C_SHAPE).</a:t>
            </a:r>
          </a:p>
          <a:p>
            <a:r>
              <a:t>La sovrapposizione visiva è dovuta all'informazione contenuta nelle altre componenti (TRANS e TRACK).</a:t>
            </a:r>
          </a:p>
          <a:p>
            <a:endParaRPr/>
          </a:p>
          <a:p>
            <a:r>
              <a:t>Problema: i cluster descrivono principalmente i TRACCIATI, non gli stili di guida dei piloti.</a:t>
            </a:r>
          </a:p>
          <a:p>
            <a:r>
              <a:t>Questo ha portato allo sviluppo del secondo approccio con MEM.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Visualizzazione 3D del primo clustering:</a:t>
            </a:r>
          </a:p>
          <a:p>
            <a:endParaRPr/>
          </a:p>
          <a:p>
            <a:r>
              <a:t>Questo grafico 3D mostra come l'aggiunta della componente TRACK migliori significativamente</a:t>
            </a:r>
          </a:p>
          <a:p>
            <a:r>
              <a:t>la separabilità dei cluster rispetto alla visualizzazione 2D.</a:t>
            </a:r>
          </a:p>
          <a:p>
            <a:endParaRPr/>
          </a:p>
          <a:p>
            <a:r>
              <a:t>Osservazioni:</a:t>
            </a:r>
          </a:p>
          <a:p>
            <a:r>
              <a:t>- I cluster sono ben separati nello spazio tridimensionale</a:t>
            </a:r>
          </a:p>
          <a:p>
            <a:r>
              <a:t>- La componente TRACK (asse Z) discrimina fortemente i circuiti</a:t>
            </a:r>
          </a:p>
          <a:p>
            <a:r>
              <a:t>- Conferma che il modello cattura principalmente caratteristiche dei tracciati</a:t>
            </a:r>
          </a:p>
          <a:p>
            <a:endParaRPr/>
          </a:p>
          <a:p>
            <a:r>
              <a:t>Esempi di cluster:</a:t>
            </a:r>
          </a:p>
          <a:p>
            <a:r>
              <a:t>- Monaco (Classe 13): uso gas ritmico, alta IN_OUT</a:t>
            </a:r>
          </a:p>
          <a:p>
            <a:r>
              <a:t>- Monza (Classe 2): staccate profonde, trazione pulita</a:t>
            </a:r>
          </a:p>
          <a:p>
            <a:r>
              <a:t>- Spa/Silverstone (Classi 8-9): assenza frenate decise, alta C_SHAPE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Distribuzione dei Gran Premi nei cluster:</a:t>
            </a:r>
          </a:p>
          <a:p>
            <a:endParaRPr/>
          </a:p>
          <a:p>
            <a:r>
              <a:t>Questo grafico mostra chiaramente come i cluster raggruppino i circuiti in base alle loro caratteristiche:</a:t>
            </a:r>
          </a:p>
          <a:p>
            <a:endParaRPr/>
          </a:p>
          <a:p>
            <a:r>
              <a:t>- Classe 13: Monaco (circuito unico, tortuoso)</a:t>
            </a:r>
          </a:p>
          <a:p>
            <a:r>
              <a:t>- Classi 5, 11: Singapore, Messico, Ungheria (circuiti ad alto carico)</a:t>
            </a:r>
          </a:p>
          <a:p>
            <a:r>
              <a:t>- Classe 6: Baku (curve a 90°)</a:t>
            </a:r>
          </a:p>
          <a:p>
            <a:r>
              <a:t>- Classi 4, 12: Las Vegas, Miami (asfalto scivoloso)</a:t>
            </a:r>
          </a:p>
          <a:p>
            <a:r>
              <a:t>- Classi 8, 9: Spa, Silverstone, Suzuka (circuiti veloci)</a:t>
            </a:r>
          </a:p>
          <a:p>
            <a:r>
              <a:t>- Classe 10: Cina, USA, Brasile (circuiti completi)</a:t>
            </a:r>
          </a:p>
          <a:p>
            <a:r>
              <a:t>- Classe 2: Monza (pista veloce)</a:t>
            </a:r>
          </a:p>
          <a:p>
            <a:r>
              <a:t>- Classe 7: Bahrain, Canada (poche curve alta velocità)</a:t>
            </a:r>
          </a:p>
          <a:p>
            <a:r>
              <a:t>- Classe 1: Australian, Abu Dhabi, Qatar, Saudi, Spanish (gruppo principale)</a:t>
            </a:r>
          </a:p>
          <a:p>
            <a:r>
              <a:t>- Classe 3: Austrian, Emilia Romagna (simile a Classe 1 ma più accentuato)</a:t>
            </a:r>
          </a:p>
          <a:p>
            <a:endParaRPr/>
          </a:p>
          <a:p>
            <a:r>
              <a:t>Conclusione: il clustering identifica tipologie di tracciati, non stili di guida.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DF32C-D5DF-B2B5-30C7-4050DDCB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874D1-6359-4DDB-5EFD-B0AC32D01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29E23-7BDF-3D54-1BC6-A1C2FCCAC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Distribuzione dei Gran Premi nei cluster:</a:t>
            </a:r>
          </a:p>
          <a:p>
            <a:endParaRPr/>
          </a:p>
          <a:p>
            <a:r>
              <a:t>Questo grafico mostra chiaramente come i cluster raggruppino i circuiti in base alle loro caratteristiche:</a:t>
            </a:r>
          </a:p>
          <a:p>
            <a:endParaRPr/>
          </a:p>
          <a:p>
            <a:r>
              <a:t>- Classe 13: Monaco (circuito unico, tortuoso)</a:t>
            </a:r>
          </a:p>
          <a:p>
            <a:r>
              <a:t>- Classi 5, 11: Singapore, Messico, Ungheria (circuiti ad alto carico)</a:t>
            </a:r>
          </a:p>
          <a:p>
            <a:r>
              <a:t>- Classe 6: Baku (curve a 90°)</a:t>
            </a:r>
          </a:p>
          <a:p>
            <a:r>
              <a:t>- Classi 4, 12: Las Vegas, Miami (asfalto scivoloso)</a:t>
            </a:r>
          </a:p>
          <a:p>
            <a:r>
              <a:t>- Classi 8, 9: Spa, Silverstone, Suzuka (circuiti veloci)</a:t>
            </a:r>
          </a:p>
          <a:p>
            <a:r>
              <a:t>- Classe 10: Cina, USA, Brasile (circuiti completi)</a:t>
            </a:r>
          </a:p>
          <a:p>
            <a:r>
              <a:t>- Classe 2: Monza (pista veloce)</a:t>
            </a:r>
          </a:p>
          <a:p>
            <a:r>
              <a:t>- Classe 7: Bahrain, Canada (poche curve alta velocità)</a:t>
            </a:r>
          </a:p>
          <a:p>
            <a:r>
              <a:t>- Classe 1: Australian, Abu Dhabi, Qatar, Saudi, Spanish (gruppo principale)</a:t>
            </a:r>
          </a:p>
          <a:p>
            <a:r>
              <a:t>- Classe 3: Austrian, Emilia Romagna (simile a Classe 1 ma più accentuato)</a:t>
            </a:r>
          </a:p>
          <a:p>
            <a:endParaRPr/>
          </a:p>
          <a:p>
            <a:r>
              <a:t>Conclusione: il clustering identifica tipologie di tracciati, non stili di guida.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3574E-FE2B-E7B7-294D-5117DBC87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3080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Mixture of Experts Models (MEM):</a:t>
            </a:r>
          </a:p>
          <a:p>
            <a:endParaRPr/>
          </a:p>
          <a:p>
            <a:r>
              <a:t>Motivazione:</a:t>
            </a:r>
          </a:p>
          <a:p>
            <a:r>
              <a:t>Il primo clustering ha identificato principalmente caratteristiche dei tracciati.</a:t>
            </a:r>
          </a:p>
          <a:p>
            <a:r>
              <a:t>Per isolare gli stili di guida, è necessario controllare l'effetto della pista.</a:t>
            </a:r>
          </a:p>
          <a:p>
            <a:endParaRPr/>
          </a:p>
          <a:p>
            <a:r>
              <a:t>Approccio:</a:t>
            </a:r>
          </a:p>
          <a:p>
            <a:r>
              <a:t>- Regressione normale multivariata</a:t>
            </a:r>
          </a:p>
          <a:p>
            <a:r>
              <a:t>- Variabili dipendenti: IN_OUT, C_SHAPE, TRANS</a:t>
            </a:r>
          </a:p>
          <a:p>
            <a:r>
              <a:t>- Variabile esplicativa: TRACK</a:t>
            </a:r>
          </a:p>
          <a:p>
            <a:r>
              <a:t>- Questo permette di "rimuovere" l'effetto della configurazione del tracciato</a:t>
            </a:r>
          </a:p>
          <a:p>
            <a:endParaRPr/>
          </a:p>
          <a:p>
            <a:r>
              <a:t>Risultati - 4 cluster (stili di guida):</a:t>
            </a:r>
          </a:p>
          <a:p>
            <a:endParaRPr/>
          </a:p>
          <a:p>
            <a:r>
              <a:t>1. Cluster 1 - Reattivo:</a:t>
            </a:r>
          </a:p>
          <a:p>
            <a:r>
              <a:t>   - Alto IN_OUT, medio C_SHAPE, basso TRANS</a:t>
            </a:r>
          </a:p>
          <a:p>
            <a:r>
              <a:t>   - Correzioni frequenti sull'acceleratore</a:t>
            </a:r>
          </a:p>
          <a:p>
            <a:r>
              <a:t>   - Mantiene elevate velocità di percorrenza</a:t>
            </a:r>
          </a:p>
          <a:p>
            <a:endParaRPr/>
          </a:p>
          <a:p>
            <a:r>
              <a:t>2. Cluster 2 - 'V' estremo:</a:t>
            </a:r>
          </a:p>
          <a:p>
            <a:r>
              <a:t>   - Basso IN_OUT, alto C_SHAPE, alto TRANS</a:t>
            </a:r>
          </a:p>
          <a:p>
            <a:r>
              <a:t>   - Staccate profonde, ripartenze rapide</a:t>
            </a:r>
          </a:p>
          <a:p>
            <a:r>
              <a:t>   - Erogazione molto pulita</a:t>
            </a:r>
          </a:p>
          <a:p>
            <a:r>
              <a:t>   - Esempi: Verstappen, Leclerc</a:t>
            </a:r>
          </a:p>
          <a:p>
            <a:endParaRPr/>
          </a:p>
          <a:p>
            <a:r>
              <a:t>3. Cluster 3 - Percorrenza:</a:t>
            </a:r>
          </a:p>
          <a:p>
            <a:r>
              <a:t>   - Alto IN_OUT, basso C_SHAPE, alto TRANS</a:t>
            </a:r>
          </a:p>
          <a:p>
            <a:r>
              <a:t>   - Focus su carico laterale</a:t>
            </a:r>
          </a:p>
          <a:p>
            <a:r>
              <a:t>   - Trazione "sporca" con correzioni</a:t>
            </a:r>
          </a:p>
          <a:p>
            <a:endParaRPr/>
          </a:p>
          <a:p>
            <a:r>
              <a:t>4. Cluster 4 - Fluido:</a:t>
            </a:r>
          </a:p>
          <a:p>
            <a:r>
              <a:t>   - Basso IN_OUT, basso C_SHAPE, basso TRANS</a:t>
            </a:r>
          </a:p>
          <a:p>
            <a:r>
              <a:t>   - Massima stabilità e fluidità</a:t>
            </a:r>
          </a:p>
          <a:p>
            <a:r>
              <a:t>   - Minime variazioni longitudinali</a:t>
            </a:r>
          </a:p>
          <a:p>
            <a:r>
              <a:t>   - Esempi: Norris, Russell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1ADA4-CBC6-8C4B-D7B4-739F6EF46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CD746-A223-329F-CC00-B65394200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743D9-8FC6-C212-001A-80C791D15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Mixture of Experts Models (MEM):</a:t>
            </a:r>
          </a:p>
          <a:p>
            <a:endParaRPr/>
          </a:p>
          <a:p>
            <a:r>
              <a:t>Motivazione:</a:t>
            </a:r>
          </a:p>
          <a:p>
            <a:r>
              <a:t>Il primo clustering ha identificato principalmente caratteristiche dei tracciati.</a:t>
            </a:r>
          </a:p>
          <a:p>
            <a:r>
              <a:t>Per isolare gli stili di guida, è necessario controllare l'effetto della pista.</a:t>
            </a:r>
          </a:p>
          <a:p>
            <a:endParaRPr/>
          </a:p>
          <a:p>
            <a:r>
              <a:t>Approccio:</a:t>
            </a:r>
          </a:p>
          <a:p>
            <a:r>
              <a:t>- Regressione normale multivariata</a:t>
            </a:r>
          </a:p>
          <a:p>
            <a:r>
              <a:t>- Variabili dipendenti: IN_OUT, C_SHAPE, TRANS</a:t>
            </a:r>
          </a:p>
          <a:p>
            <a:r>
              <a:t>- Variabile esplicativa: TRACK</a:t>
            </a:r>
          </a:p>
          <a:p>
            <a:r>
              <a:t>- Questo permette di "rimuovere" l'effetto della configurazione del tracciato</a:t>
            </a:r>
          </a:p>
          <a:p>
            <a:endParaRPr/>
          </a:p>
          <a:p>
            <a:r>
              <a:t>Risultati - 4 cluster (stili di guida):</a:t>
            </a:r>
          </a:p>
          <a:p>
            <a:endParaRPr/>
          </a:p>
          <a:p>
            <a:r>
              <a:t>1. Cluster 1 - Reattivo:</a:t>
            </a:r>
          </a:p>
          <a:p>
            <a:r>
              <a:t>   - Alto IN_OUT, medio C_SHAPE, basso TRANS</a:t>
            </a:r>
          </a:p>
          <a:p>
            <a:r>
              <a:t>   - Correzioni frequenti sull'acceleratore</a:t>
            </a:r>
          </a:p>
          <a:p>
            <a:r>
              <a:t>   - Mantiene elevate velocità di percorrenza</a:t>
            </a:r>
          </a:p>
          <a:p>
            <a:endParaRPr/>
          </a:p>
          <a:p>
            <a:r>
              <a:t>2. Cluster 2 - 'V' estremo:</a:t>
            </a:r>
          </a:p>
          <a:p>
            <a:r>
              <a:t>   - Basso IN_OUT, alto C_SHAPE, alto TRANS</a:t>
            </a:r>
          </a:p>
          <a:p>
            <a:r>
              <a:t>   - Staccate profonde, ripartenze rapide</a:t>
            </a:r>
          </a:p>
          <a:p>
            <a:r>
              <a:t>   - Erogazione molto pulita</a:t>
            </a:r>
          </a:p>
          <a:p>
            <a:r>
              <a:t>   - Esempi: Verstappen, Leclerc</a:t>
            </a:r>
          </a:p>
          <a:p>
            <a:endParaRPr/>
          </a:p>
          <a:p>
            <a:r>
              <a:t>3. Cluster 3 - Percorrenza:</a:t>
            </a:r>
          </a:p>
          <a:p>
            <a:r>
              <a:t>   - Alto IN_OUT, basso C_SHAPE, alto TRANS</a:t>
            </a:r>
          </a:p>
          <a:p>
            <a:r>
              <a:t>   - Focus su carico laterale</a:t>
            </a:r>
          </a:p>
          <a:p>
            <a:r>
              <a:t>   - Trazione "sporca" con correzioni</a:t>
            </a:r>
          </a:p>
          <a:p>
            <a:endParaRPr/>
          </a:p>
          <a:p>
            <a:r>
              <a:t>4. Cluster 4 - Fluido:</a:t>
            </a:r>
          </a:p>
          <a:p>
            <a:r>
              <a:t>   - Basso IN_OUT, basso C_SHAPE, basso TRANS</a:t>
            </a:r>
          </a:p>
          <a:p>
            <a:r>
              <a:t>   - Massima stabilità e fluidità</a:t>
            </a:r>
          </a:p>
          <a:p>
            <a:r>
              <a:t>   - Minime variazioni longitudinali</a:t>
            </a:r>
          </a:p>
          <a:p>
            <a:r>
              <a:t>   - Esempi: Norris, Russell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BBFC4-4F26-84B2-E1C7-BD40168A4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91965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Visualizzazione delle regressioni MEM:</a:t>
            </a:r>
          </a:p>
          <a:p>
            <a:endParaRPr/>
          </a:p>
          <a:p>
            <a:r>
              <a:t>Questo grafico mostra come ciascun cluster (stile di guida) si comporta in funzione</a:t>
            </a:r>
          </a:p>
          <a:p>
            <a:r>
              <a:t>della componente TRACK (configurazione pista).</a:t>
            </a:r>
          </a:p>
          <a:p>
            <a:endParaRPr/>
          </a:p>
          <a:p>
            <a:r>
              <a:t>Osservazioni:</a:t>
            </a:r>
          </a:p>
          <a:p>
            <a:r>
              <a:t>- Ogni cluster ha una relazione lineare distinta con TRACK</a:t>
            </a:r>
          </a:p>
          <a:p>
            <a:r>
              <a:t>- Le pendenze diverse indicano che gli stili reagiscono diversamente ai tracciati</a:t>
            </a:r>
          </a:p>
          <a:p>
            <a:r>
              <a:t>- Cluster 2 (rosso): pendenza positiva marcata</a:t>
            </a:r>
          </a:p>
          <a:p>
            <a:r>
              <a:t>- Cluster 4 (blu): pendenza negativa</a:t>
            </a:r>
          </a:p>
          <a:p>
            <a:r>
              <a:t>- Cluster 1 e 3: pendenze intermedie</a:t>
            </a:r>
          </a:p>
          <a:p>
            <a:endParaRPr/>
          </a:p>
          <a:p>
            <a:r>
              <a:t>Questo conferma che il modello MEM riesce a separare gli stili di guida</a:t>
            </a:r>
          </a:p>
          <a:p>
            <a:r>
              <a:t>controllando per l'effetto della pista.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Visualizzazione 3D del modello MEM:</a:t>
            </a:r>
          </a:p>
          <a:p>
            <a:endParaRPr/>
          </a:p>
          <a:p>
            <a:r>
              <a:t>Questo grafico mostra:</a:t>
            </a:r>
          </a:p>
          <a:p>
            <a:r>
              <a:t>- Punti: osservazioni colorate per cluster</a:t>
            </a:r>
          </a:p>
          <a:p>
            <a:r>
              <a:t>- Linee: piani di regressione per ciascun cluster</a:t>
            </a:r>
          </a:p>
          <a:p>
            <a:endParaRPr/>
          </a:p>
          <a:p>
            <a:r>
              <a:t>La visualizzazione 3D evidenzia come il MEM modelli la relazione tra:</a:t>
            </a:r>
          </a:p>
          <a:p>
            <a:r>
              <a:t>- Le componenti di stile (IN_OUT, C_SHAPE, TRANS)</a:t>
            </a:r>
          </a:p>
          <a:p>
            <a:r>
              <a:t>- La componente di tracciato (TRACK)</a:t>
            </a:r>
          </a:p>
          <a:p>
            <a:endParaRPr/>
          </a:p>
          <a:p>
            <a:r>
              <a:t>I piani di regressione paralleli ma distinti confermano che i 4 cluster</a:t>
            </a:r>
          </a:p>
          <a:p>
            <a:r>
              <a:t>rappresentano stili di guida diversi che si adattano ai circuiti in modo differente.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Interpretazione dei risultati:</a:t>
            </a:r>
          </a:p>
          <a:p>
            <a:endParaRPr/>
          </a:p>
          <a:p>
            <a:r>
              <a:t>Successi:</a:t>
            </a:r>
          </a:p>
          <a:p>
            <a:r>
              <a:t>- I cluster identificati corrispondono a stili di guida osservabili nella realtà</a:t>
            </a:r>
          </a:p>
          <a:p>
            <a:r>
              <a:t>- Cluster 2 (Verstappen, Leclerc): noto stile aggressivo a "V"</a:t>
            </a:r>
          </a:p>
          <a:p>
            <a:r>
              <a:t>- Cluster 4 (Norris, Russell): noto stile fluido e composto</a:t>
            </a:r>
          </a:p>
          <a:p>
            <a:r>
              <a:t>- Risultati coerenti con analisi di esperti F1</a:t>
            </a:r>
          </a:p>
          <a:p>
            <a:endParaRPr/>
          </a:p>
          <a:p>
            <a:r>
              <a:t>Limitazioni:</a:t>
            </a:r>
          </a:p>
          <a:p>
            <a:r>
              <a:t>- Forte dipendenza dalla geometria del tracciato</a:t>
            </a:r>
          </a:p>
          <a:p>
            <a:r>
              <a:t>- Anche con MEM, l'effetto pista non è completamente eliminato</a:t>
            </a:r>
          </a:p>
          <a:p>
            <a:endParaRPr/>
          </a:p>
          <a:p>
            <a:r>
              <a:t>Possibili cause:</a:t>
            </a:r>
          </a:p>
          <a:p>
            <a:r>
              <a:t>1. Le variabili utilizzate potrebbero non essere sufficientemente discriminanti</a:t>
            </a:r>
          </a:p>
          <a:p>
            <a:r>
              <a:t>   - Potrebbero servire: punti di staccata, angolo sterzo, traiettorie</a:t>
            </a:r>
          </a:p>
          <a:p>
            <a:r>
              <a:t>2. I piloti potrebbero adattarsi ai circuiti più che mantenere uno stile fisso</a:t>
            </a:r>
          </a:p>
          <a:p>
            <a:r>
              <a:t>   - L'adattamento al tracciato potrebbe essere parte integrante dello "stile"</a:t>
            </a:r>
          </a:p>
          <a:p>
            <a:endParaRPr/>
          </a:p>
          <a:p>
            <a:r>
              <a:t>Distribuzione piloti nei cluster (esempi):</a:t>
            </a:r>
          </a:p>
          <a:p>
            <a:r>
              <a:t>- Bearman: 8 giri Cluster 1, 4 Cluster 2, 1 Cluster 3, 10 Cluster 4</a:t>
            </a:r>
          </a:p>
          <a:p>
            <a:r>
              <a:t>- Colapinto: 9 Cluster 1, 2 Cluster 2, 2 Cluster 3, 5 Cluster 4</a:t>
            </a:r>
          </a:p>
          <a:p>
            <a:r>
              <a:t>- Leclerc: 9 Cluster 1, 3 Cluster 2, 1 Cluster 3, 11 Cluster 4</a:t>
            </a:r>
          </a:p>
          <a:p>
            <a:r>
              <a:t>- Norris: 9 Cluster 1, 4 Cluster 2, 1 Cluster 3, 10 Cluster 4</a:t>
            </a:r>
          </a:p>
          <a:p>
            <a:r>
              <a:t>- Russell: 9 Cluster 1, 3 Cluster 2, 1 Cluster 3, 10 Cluster 4</a:t>
            </a:r>
          </a:p>
          <a:p>
            <a:r>
              <a:t>- Verstappen: 8 Cluster 1, 3 Cluster 2, 3 Cluster 3, 10 Cluster 4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Conclusioni:</a:t>
            </a:r>
          </a:p>
          <a:p>
            <a:endParaRPr/>
          </a:p>
          <a:p>
            <a:r>
              <a:t>Successi del progetto:</a:t>
            </a:r>
          </a:p>
          <a:p>
            <a:r>
              <a:t>1. Identificazione di pattern significativi nei dati telemetrici</a:t>
            </a:r>
          </a:p>
          <a:p>
            <a:r>
              <a:t>2. PCA efficace per riduzione dimensionalità mantenendo interpretabilità</a:t>
            </a:r>
          </a:p>
          <a:p>
            <a:r>
              <a:t>3. MEM utile per controllare l'effetto della covariata (pista)</a:t>
            </a:r>
          </a:p>
          <a:p>
            <a:r>
              <a:t>4. Risultati coerenti con osservazioni qualitative degli esperti F1</a:t>
            </a:r>
          </a:p>
          <a:p>
            <a:endParaRPr/>
          </a:p>
          <a:p>
            <a:r>
              <a:t>Limitazioni:</a:t>
            </a:r>
          </a:p>
          <a:p>
            <a:r>
              <a:t>- Forte influenza della geometria del tracciato anche dopo MEM</a:t>
            </a:r>
          </a:p>
          <a:p>
            <a:r>
              <a:t>- Necessità di variabili più specifiche per lo stile di guida</a:t>
            </a:r>
          </a:p>
          <a:p>
            <a:endParaRPr/>
          </a:p>
          <a:p>
            <a:r>
              <a:t>Sviluppi futuri proposti:</a:t>
            </a:r>
          </a:p>
          <a:p>
            <a:r>
              <a:t>1. Variabili aggiuntive:</a:t>
            </a:r>
          </a:p>
          <a:p>
            <a:r>
              <a:t>   - Punti di staccata (metri prima della curva)</a:t>
            </a:r>
          </a:p>
          <a:p>
            <a:r>
              <a:t>   - Angolo sterzo e sua modulazione</a:t>
            </a:r>
          </a:p>
          <a:p>
            <a:r>
              <a:t>   - Traiettorie (punti di corda, ingresso/uscita curva)</a:t>
            </a:r>
          </a:p>
          <a:p>
            <a:r>
              <a:t>   - Temperatura gomme e pressioni</a:t>
            </a:r>
          </a:p>
          <a:p>
            <a:endParaRPr/>
          </a:p>
          <a:p>
            <a:r>
              <a:t>2. Analisi temporale:</a:t>
            </a:r>
          </a:p>
          <a:p>
            <a:r>
              <a:t>   - Estendere l'analisi a più stagioni</a:t>
            </a:r>
          </a:p>
          <a:p>
            <a:r>
              <a:t>   - Studiare l'evoluzione degli stili di guida nel tempo</a:t>
            </a:r>
          </a:p>
          <a:p>
            <a:r>
              <a:t>   - Analizzare l'adattamento dei piloti a nuove vetture</a:t>
            </a:r>
          </a:p>
          <a:p>
            <a:endParaRPr/>
          </a:p>
          <a:p>
            <a:r>
              <a:t>3. Validazione:</a:t>
            </a:r>
          </a:p>
          <a:p>
            <a:r>
              <a:t>   - Confronto con analisi di esperti del settore</a:t>
            </a:r>
          </a:p>
          <a:p>
            <a:r>
              <a:t>   - Interviste con ingegneri di pista</a:t>
            </a:r>
          </a:p>
          <a:p>
            <a:r>
              <a:t>   - Validazione con simulatori professionali</a:t>
            </a:r>
          </a:p>
          <a:p>
            <a:endParaRPr/>
          </a:p>
          <a:p>
            <a:r>
              <a:t>4. Metodologie alternative:</a:t>
            </a:r>
          </a:p>
          <a:p>
            <a:r>
              <a:t>   - Deep Learning per pattern recognition</a:t>
            </a:r>
          </a:p>
          <a:p>
            <a:r>
              <a:t>   - Time series clustering per analisi dinamiche</a:t>
            </a:r>
          </a:p>
          <a:p>
            <a:r>
              <a:t>   - Functional Data Analysis per curve telemetriche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TracingInsights/202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a.com/sites/default/files/fia_2025_formula_1_sporting_regulations_-_issue_1_-_2024-07-31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rpubs.com/FedeMacc/1387349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rpubs.com/FedeMacc/1387354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 descr="Scarica lo sfondo del Guardala Potenza Della Macchina Ferrari F1 In Azione.  | Wallpapers.com">
            <a:extLst>
              <a:ext uri="{FF2B5EF4-FFF2-40B4-BE49-F238E27FC236}">
                <a16:creationId xmlns:a16="http://schemas.microsoft.com/office/drawing/2014/main" id="{8BFBD3A6-CC4B-F5D6-B2D1-98B91E4BE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9"/>
            <a:ext cx="12192000" cy="7546063"/>
          </a:xfrm>
          <a:prstGeom prst="rect">
            <a:avLst/>
          </a:prstGeom>
          <a:noFill/>
          <a:effectLst>
            <a:outerShdw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4181" y="1646864"/>
            <a:ext cx="860363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5400" dirty="0" err="1">
                <a:latin typeface="Formula1 Display Bold" panose="02000000000000000000" pitchFamily="2" charset="0"/>
                <a:cs typeface="Lucida Sans Unicode" panose="020B0602030504020204" pitchFamily="34" charset="0"/>
              </a:rPr>
              <a:t>Analisi</a:t>
            </a:r>
            <a:r>
              <a:rPr sz="5400" dirty="0">
                <a:latin typeface="Formula1 Display Bold" panose="02000000000000000000" pitchFamily="2" charset="0"/>
                <a:cs typeface="Lucida Sans Unicode" panose="020B0602030504020204" pitchFamily="34" charset="0"/>
              </a:rPr>
              <a:t> Telemetrie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2631" y="3281940"/>
            <a:ext cx="8165592" cy="56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>
                <a:solidFill>
                  <a:srgbClr val="FFFFFF"/>
                </a:solidFill>
              </a:defRPr>
            </a:pPr>
            <a:r>
              <a:rPr sz="2400" dirty="0" err="1">
                <a:latin typeface="Formula1 Display-Regular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Identificazione</a:t>
            </a:r>
            <a:r>
              <a:rPr sz="2400" dirty="0">
                <a:latin typeface="Formula1 Display-Regular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degli </a:t>
            </a:r>
            <a:r>
              <a:rPr sz="2400" dirty="0" err="1">
                <a:latin typeface="Formula1 Display-Regular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Stili</a:t>
            </a:r>
            <a:r>
              <a:rPr sz="2400" dirty="0">
                <a:latin typeface="Formula1 Display-Regular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di Guida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50C9BEF-BB2C-1C3F-36C2-7AF1FD3A2FC8}"/>
              </a:ext>
            </a:extLst>
          </p:cNvPr>
          <p:cNvSpPr txBox="1"/>
          <p:nvPr/>
        </p:nvSpPr>
        <p:spPr>
          <a:xfrm>
            <a:off x="209825" y="6077635"/>
            <a:ext cx="8165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Formula1 Display-Bold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Gruppo CORES</a:t>
            </a:r>
          </a:p>
          <a:p>
            <a:r>
              <a:rPr lang="it-IT" dirty="0">
                <a:solidFill>
                  <a:schemeClr val="bg1"/>
                </a:solidFill>
                <a:latin typeface="Formula1 Display-Bold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Maccianti Federico • </a:t>
            </a:r>
            <a:r>
              <a:rPr lang="it-IT" dirty="0" err="1">
                <a:solidFill>
                  <a:schemeClr val="bg1"/>
                </a:solidFill>
                <a:latin typeface="Formula1 Display-Bold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Rapacioli</a:t>
            </a:r>
            <a:r>
              <a:rPr lang="it-IT" dirty="0">
                <a:solidFill>
                  <a:schemeClr val="bg1"/>
                </a:solidFill>
                <a:latin typeface="Formula1 Display-Bold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Nicola • Riva Pietro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8330596-0548-B131-7D6F-ED69F6188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385"/>
            <a:ext cx="12191999" cy="603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5332" y="1490008"/>
            <a:ext cx="116666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Lo studio è basato sulla repository </a:t>
            </a:r>
            <a:r>
              <a:rPr lang="it-IT" sz="200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Formula1 Display-Regular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TracingInsights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.</a:t>
            </a:r>
            <a:br>
              <a:rPr lang="it-IT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Formula1 Display-Regular" panose="02000000000000000000" pitchFamily="2" charset="0"/>
              </a:rPr>
            </a:br>
            <a:br>
              <a:rPr lang="it-IT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Formula1 Display-Regular" panose="02000000000000000000" pitchFamily="2" charset="0"/>
              </a:rPr>
            </a:b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Per le sessioni di qualifica del 2025 selezionando il miglior giro di ciascun pilota . 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" y="0"/>
            <a:ext cx="12191998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2399" y="233665"/>
            <a:ext cx="564289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lang="it-IT" sz="3600" dirty="0">
                <a:latin typeface="Formula1 Display-Bold" panose="02000000000000000000" pitchFamily="2" charset="0"/>
              </a:rPr>
              <a:t>Fonti</a:t>
            </a:r>
            <a:endParaRPr sz="3600" dirty="0">
              <a:latin typeface="Formula1 Display-Bold" panose="020000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80207F0B-575C-F2C8-406F-FE27F098A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932507"/>
              </p:ext>
            </p:extLst>
          </p:nvPr>
        </p:nvGraphicFramePr>
        <p:xfrm>
          <a:off x="525332" y="3183467"/>
          <a:ext cx="10972794" cy="2367993"/>
        </p:xfrm>
        <a:graphic>
          <a:graphicData uri="http://schemas.openxmlformats.org/drawingml/2006/table">
            <a:tbl>
              <a:tblPr/>
              <a:tblGrid>
                <a:gridCol w="1550221">
                  <a:extLst>
                    <a:ext uri="{9D8B030D-6E8A-4147-A177-3AD203B41FA5}">
                      <a16:colId xmlns:a16="http://schemas.microsoft.com/office/drawing/2014/main" val="433862973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611440438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188765853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768372371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3711697179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1856282972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324349527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519171158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01015019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1091093431"/>
                    </a:ext>
                  </a:extLst>
                </a:gridCol>
                <a:gridCol w="767319">
                  <a:extLst>
                    <a:ext uri="{9D8B030D-6E8A-4147-A177-3AD203B41FA5}">
                      <a16:colId xmlns:a16="http://schemas.microsoft.com/office/drawing/2014/main" val="313402791"/>
                    </a:ext>
                  </a:extLst>
                </a:gridCol>
                <a:gridCol w="341219">
                  <a:extLst>
                    <a:ext uri="{9D8B030D-6E8A-4147-A177-3AD203B41FA5}">
                      <a16:colId xmlns:a16="http://schemas.microsoft.com/office/drawing/2014/main" val="1101557601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882625174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873158909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1281655496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86483432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3843354826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3098464709"/>
                    </a:ext>
                  </a:extLst>
                </a:gridCol>
              </a:tblGrid>
              <a:tr h="3891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pilota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rpm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speed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gear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throttle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brake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distance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rel_distance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acc_y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acc_z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lap_time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57922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4,83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11318,00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350,24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-12,51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48,48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4112,11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2507,00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-233,87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802403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4,99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11181,00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185,00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358,46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-8,75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51,04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4177,81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2538,51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-233,20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207624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5,04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11106,16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183,28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2,25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360,96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-8,89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50,65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-0,18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4200,00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2555,00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-233,00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402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5,30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10716,97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174,34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8,75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373,45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-7,97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48,39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4321,00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2683,00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-232,00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907492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5,31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10702,00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174,00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373,93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-5,88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48,20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6,21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4324,38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2687,23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-231,97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00890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5,55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10603,00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170,00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385,26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-3,21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43,82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8,41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4363,56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2753,84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-231,25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839216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5,74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10667,39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168,94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51,61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394,14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-2,06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35,98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12,22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4375,00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2822,00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97089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5,91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10725,00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168,00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402,06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-0,39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30,72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24,52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4390,27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2921,60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-231,01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63364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5,92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10749,62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168,06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62,56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402,53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2,46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27,03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27,73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4391,00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2927,00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8815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09308" y="106175"/>
            <a:ext cx="6607899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dirty="0">
                <a:latin typeface="Formula1 Display-Bold" panose="02000000000000000000" pitchFamily="2" charset="0"/>
              </a:rPr>
              <a:t>Accorgimenti sulle variabili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sz="1400" dirty="0" err="1">
                <a:latin typeface="Formula1 Display-Bold" panose="02000000000000000000" pitchFamily="2" charset="0"/>
              </a:rPr>
              <a:t>Esempio</a:t>
            </a:r>
            <a:r>
              <a:rPr lang="it-IT" sz="1400" dirty="0">
                <a:latin typeface="Formula1 Display-Bold" panose="02000000000000000000" pitchFamily="2" charset="0"/>
              </a:rPr>
              <a:t> </a:t>
            </a:r>
            <a:r>
              <a:rPr sz="1400" dirty="0">
                <a:latin typeface="Formula1 Display-Bold" panose="02000000000000000000" pitchFamily="2" charset="0"/>
              </a:rPr>
              <a:t>: Telemetrie USA GP</a:t>
            </a:r>
          </a:p>
        </p:txBody>
      </p:sp>
      <p:pic>
        <p:nvPicPr>
          <p:cNvPr id="4" name="Picture 3" descr="tel_ex1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436" y="1143000"/>
            <a:ext cx="770312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42733" y="6400801"/>
            <a:ext cx="63065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Confronto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telemetrie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: Verstappen, Leclerc, Norris, Colapinto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187"/>
            <a:ext cx="12192000" cy="164813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4710-4DE0-EF49-9DCB-23DBD45F4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973450-F28C-7319-489E-78C8B69FC59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8DB81-1BD8-43BE-D78A-A13D85B088E3}"/>
              </a:ext>
            </a:extLst>
          </p:cNvPr>
          <p:cNvSpPr txBox="1"/>
          <p:nvPr/>
        </p:nvSpPr>
        <p:spPr>
          <a:xfrm>
            <a:off x="3916557" y="106175"/>
            <a:ext cx="3993401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u="sng" dirty="0" err="1">
                <a:latin typeface="Formula1 Display-Bold" panose="02000000000000000000" pitchFamily="2" charset="0"/>
              </a:rPr>
              <a:t>Pre</a:t>
            </a:r>
            <a:r>
              <a:rPr lang="it-IT" sz="3200" u="sng" dirty="0">
                <a:latin typeface="Formula1 Display-Bold" panose="02000000000000000000" pitchFamily="2" charset="0"/>
              </a:rPr>
              <a:t> - processing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sz="1400" dirty="0" err="1">
                <a:latin typeface="Formula1 Display-Bold" panose="02000000000000000000" pitchFamily="2" charset="0"/>
              </a:rPr>
              <a:t>Esempio</a:t>
            </a:r>
            <a:r>
              <a:rPr lang="it-IT" sz="1400" dirty="0">
                <a:latin typeface="Formula1 Display-Bold" panose="02000000000000000000" pitchFamily="2" charset="0"/>
              </a:rPr>
              <a:t> </a:t>
            </a:r>
            <a:r>
              <a:rPr sz="1400" dirty="0">
                <a:latin typeface="Formula1 Display-Bold" panose="02000000000000000000" pitchFamily="2" charset="0"/>
              </a:rPr>
              <a:t>: Telemetrie </a:t>
            </a:r>
            <a:r>
              <a:rPr lang="it-IT" sz="1400" dirty="0">
                <a:latin typeface="Formula1 Display-Bold" panose="02000000000000000000" pitchFamily="2" charset="0"/>
              </a:rPr>
              <a:t>AUSTRALIA</a:t>
            </a:r>
            <a:r>
              <a:rPr sz="1400" dirty="0">
                <a:latin typeface="Formula1 Display-Bold" panose="02000000000000000000" pitchFamily="2" charset="0"/>
              </a:rPr>
              <a:t> GP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D978F-06DF-F8DA-6F6F-13DC2C76DA54}"/>
              </a:ext>
            </a:extLst>
          </p:cNvPr>
          <p:cNvSpPr txBox="1"/>
          <p:nvPr/>
        </p:nvSpPr>
        <p:spPr>
          <a:xfrm>
            <a:off x="3410014" y="6400801"/>
            <a:ext cx="53719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Confronto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telemetrie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: </a:t>
            </a:r>
            <a:r>
              <a:rPr lang="it-IT"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	</a:t>
            </a:r>
            <a:r>
              <a:rPr lang="it-IT"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Bearman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, </a:t>
            </a:r>
            <a:r>
              <a:rPr lang="it-IT"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Hamilton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Tsunoda</a:t>
            </a:r>
            <a:endParaRPr sz="14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0C5A4B-463B-D479-593C-C9AA4C54C5B4}"/>
              </a:ext>
            </a:extLst>
          </p:cNvPr>
          <p:cNvSpPr/>
          <p:nvPr/>
        </p:nvSpPr>
        <p:spPr>
          <a:xfrm>
            <a:off x="0" y="6693187"/>
            <a:ext cx="12192000" cy="164813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E4DBD9C-F34A-65A2-A053-1582A919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331" y="1052945"/>
            <a:ext cx="7735077" cy="520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58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074136"/>
            <a:ext cx="117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Rimozione dati mancanti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9F2B46A-6C5D-DECC-F568-6ACD05D3708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D64124A2-1993-0014-F04B-AB3F039E8300}"/>
              </a:ext>
            </a:extLst>
          </p:cNvPr>
          <p:cNvSpPr txBox="1"/>
          <p:nvPr/>
        </p:nvSpPr>
        <p:spPr>
          <a:xfrm>
            <a:off x="3940602" y="106175"/>
            <a:ext cx="3945311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u="sng" dirty="0" err="1">
                <a:latin typeface="Formula1 Display-Bold" panose="02000000000000000000" pitchFamily="2" charset="0"/>
              </a:rPr>
              <a:t>Pre</a:t>
            </a:r>
            <a:r>
              <a:rPr lang="it-IT" sz="3200" u="sng" dirty="0">
                <a:latin typeface="Formula1 Display-Bold" panose="02000000000000000000" pitchFamily="2" charset="0"/>
              </a:rPr>
              <a:t> - processing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lang="it-IT" sz="1400" dirty="0">
                <a:latin typeface="Formula1 Display-Bold" panose="02000000000000000000" pitchFamily="2" charset="0"/>
              </a:rPr>
              <a:t>Pulizia del dataset</a:t>
            </a:r>
            <a:endParaRPr sz="1400" dirty="0">
              <a:latin typeface="Formula1 Display-Bold" panose="02000000000000000000" pitchFamily="2" charset="0"/>
            </a:endParaRP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59D56459-2F93-25C1-8D37-1D39F2442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31163"/>
              </p:ext>
            </p:extLst>
          </p:nvPr>
        </p:nvGraphicFramePr>
        <p:xfrm>
          <a:off x="233986" y="2800858"/>
          <a:ext cx="11724035" cy="1280730"/>
        </p:xfrm>
        <a:graphic>
          <a:graphicData uri="http://schemas.openxmlformats.org/drawingml/2006/table">
            <a:tbl>
              <a:tblPr/>
              <a:tblGrid>
                <a:gridCol w="1642508">
                  <a:extLst>
                    <a:ext uri="{9D8B030D-6E8A-4147-A177-3AD203B41FA5}">
                      <a16:colId xmlns:a16="http://schemas.microsoft.com/office/drawing/2014/main" val="1678409948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442955166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5045323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45246900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704855931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37343414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404408003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955766279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4479605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322860435"/>
                    </a:ext>
                  </a:extLst>
                </a:gridCol>
                <a:gridCol w="776478">
                  <a:extLst>
                    <a:ext uri="{9D8B030D-6E8A-4147-A177-3AD203B41FA5}">
                      <a16:colId xmlns:a16="http://schemas.microsoft.com/office/drawing/2014/main" val="2980103872"/>
                    </a:ext>
                  </a:extLst>
                </a:gridCol>
                <a:gridCol w="409584">
                  <a:extLst>
                    <a:ext uri="{9D8B030D-6E8A-4147-A177-3AD203B41FA5}">
                      <a16:colId xmlns:a16="http://schemas.microsoft.com/office/drawing/2014/main" val="406583244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4241781594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369267960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493658773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76110018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65730936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4044555118"/>
                    </a:ext>
                  </a:extLst>
                </a:gridCol>
              </a:tblGrid>
              <a:tr h="4121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pilota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rpm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speed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gear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throttle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brake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distance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rel_distance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acc_y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acc_z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lap_time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491987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23128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0,017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36934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0,049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555562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0,257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8838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F58D0-4F77-9F36-B187-B2A8E27D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DF9BB1-7226-FF78-7F7D-48664EEC67DE}"/>
              </a:ext>
            </a:extLst>
          </p:cNvPr>
          <p:cNvSpPr txBox="1"/>
          <p:nvPr/>
        </p:nvSpPr>
        <p:spPr>
          <a:xfrm>
            <a:off x="152400" y="2074136"/>
            <a:ext cx="117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Rimozione dati mancanti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1F309C-88B4-A64B-7137-A7E30F47303C}"/>
              </a:ext>
            </a:extLst>
          </p:cNvPr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A22B08-9064-7F51-FAC1-CD33A0DAAE7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343D0E1C-DB4F-7D00-F0E4-17C868DA89E1}"/>
              </a:ext>
            </a:extLst>
          </p:cNvPr>
          <p:cNvSpPr txBox="1"/>
          <p:nvPr/>
        </p:nvSpPr>
        <p:spPr>
          <a:xfrm>
            <a:off x="3940602" y="106175"/>
            <a:ext cx="3945311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u="sng" dirty="0" err="1">
                <a:latin typeface="Formula1 Display-Bold" panose="02000000000000000000" pitchFamily="2" charset="0"/>
              </a:rPr>
              <a:t>Pre</a:t>
            </a:r>
            <a:r>
              <a:rPr lang="it-IT" sz="3200" u="sng" dirty="0">
                <a:latin typeface="Formula1 Display-Bold" panose="02000000000000000000" pitchFamily="2" charset="0"/>
              </a:rPr>
              <a:t> - processing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lang="it-IT" sz="1400" dirty="0">
                <a:latin typeface="Formula1 Display-Bold" panose="02000000000000000000" pitchFamily="2" charset="0"/>
              </a:rPr>
              <a:t>Pulizia del dataset</a:t>
            </a:r>
            <a:endParaRPr sz="1400" dirty="0">
              <a:latin typeface="Formula1 Display-Bold" panose="02000000000000000000" pitchFamily="2" charset="0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63BBD3D2-FC89-955C-F803-8D24709B06CF}"/>
              </a:ext>
            </a:extLst>
          </p:cNvPr>
          <p:cNvSpPr txBox="1"/>
          <p:nvPr/>
        </p:nvSpPr>
        <p:spPr>
          <a:xfrm>
            <a:off x="233979" y="4419921"/>
            <a:ext cx="117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Validazione con regola FIA (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  <a:hlinkClick r:id="rId3"/>
              </a:rPr>
              <a:t>39.4.b.i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);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31EE459-E4E2-AF9F-F3BB-154999282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353167"/>
              </p:ext>
            </p:extLst>
          </p:nvPr>
        </p:nvGraphicFramePr>
        <p:xfrm>
          <a:off x="152400" y="4912628"/>
          <a:ext cx="11805621" cy="1318260"/>
        </p:xfrm>
        <a:graphic>
          <a:graphicData uri="http://schemas.openxmlformats.org/drawingml/2006/table">
            <a:tbl>
              <a:tblPr/>
              <a:tblGrid>
                <a:gridCol w="4327327">
                  <a:extLst>
                    <a:ext uri="{9D8B030D-6E8A-4147-A177-3AD203B41FA5}">
                      <a16:colId xmlns:a16="http://schemas.microsoft.com/office/drawing/2014/main" val="3961951618"/>
                    </a:ext>
                  </a:extLst>
                </a:gridCol>
                <a:gridCol w="2016619">
                  <a:extLst>
                    <a:ext uri="{9D8B030D-6E8A-4147-A177-3AD203B41FA5}">
                      <a16:colId xmlns:a16="http://schemas.microsoft.com/office/drawing/2014/main" val="2568902521"/>
                    </a:ext>
                  </a:extLst>
                </a:gridCol>
                <a:gridCol w="5461675">
                  <a:extLst>
                    <a:ext uri="{9D8B030D-6E8A-4147-A177-3AD203B41FA5}">
                      <a16:colId xmlns:a16="http://schemas.microsoft.com/office/drawing/2014/main" val="1362158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pilota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lap_time</a:t>
                      </a:r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7708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Dutch Grand Prix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92.046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017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Las Vegas Grand Prix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116.22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56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Las Vegas Grand Prix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116.314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8767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Las Vegas Grand Prix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116.674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071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Las Vegas Grand Prix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HAM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117.115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432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Las Vegas Grand Prix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TSU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116.798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44099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75F8ABFB-8FD2-7481-F71E-7B517641E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796120"/>
              </p:ext>
            </p:extLst>
          </p:nvPr>
        </p:nvGraphicFramePr>
        <p:xfrm>
          <a:off x="233986" y="2800858"/>
          <a:ext cx="11724035" cy="1280730"/>
        </p:xfrm>
        <a:graphic>
          <a:graphicData uri="http://schemas.openxmlformats.org/drawingml/2006/table">
            <a:tbl>
              <a:tblPr/>
              <a:tblGrid>
                <a:gridCol w="1642508">
                  <a:extLst>
                    <a:ext uri="{9D8B030D-6E8A-4147-A177-3AD203B41FA5}">
                      <a16:colId xmlns:a16="http://schemas.microsoft.com/office/drawing/2014/main" val="1678409948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442955166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5045323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45246900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704855931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37343414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404408003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955766279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4479605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322860435"/>
                    </a:ext>
                  </a:extLst>
                </a:gridCol>
                <a:gridCol w="776478">
                  <a:extLst>
                    <a:ext uri="{9D8B030D-6E8A-4147-A177-3AD203B41FA5}">
                      <a16:colId xmlns:a16="http://schemas.microsoft.com/office/drawing/2014/main" val="2980103872"/>
                    </a:ext>
                  </a:extLst>
                </a:gridCol>
                <a:gridCol w="409584">
                  <a:extLst>
                    <a:ext uri="{9D8B030D-6E8A-4147-A177-3AD203B41FA5}">
                      <a16:colId xmlns:a16="http://schemas.microsoft.com/office/drawing/2014/main" val="406583244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4241781594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369267960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493658773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76110018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65730936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4044555118"/>
                    </a:ext>
                  </a:extLst>
                </a:gridCol>
              </a:tblGrid>
              <a:tr h="4121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pilota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rpm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speed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gear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throttle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brake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distance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rel_distance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acc_y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acc_z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lap_time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491987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23128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0,017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36934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0,049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555562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0,257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883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15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2402-D72E-1962-F744-C7DDFC28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 descr="Immagine che contiene veicolo, sport motoristici, ruota, macchina da corsa&#10;&#10;Il contenuto generato dall'IA potrebbe non essere corretto.">
            <a:extLst>
              <a:ext uri="{FF2B5EF4-FFF2-40B4-BE49-F238E27FC236}">
                <a16:creationId xmlns:a16="http://schemas.microsoft.com/office/drawing/2014/main" id="{814544CC-0E48-9D08-864C-C9184AB0F2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713873" y="-1020556"/>
            <a:ext cx="13768138" cy="76058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E2EBB9-3E97-AAB2-BE17-47C3B49695FA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64621-0CB3-9975-80FA-518EFC04A767}"/>
              </a:ext>
            </a:extLst>
          </p:cNvPr>
          <p:cNvSpPr txBox="1"/>
          <p:nvPr/>
        </p:nvSpPr>
        <p:spPr>
          <a:xfrm>
            <a:off x="467835" y="1962626"/>
            <a:ext cx="767736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-&gt; 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e 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dec_X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|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acc_y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|;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E5681C-108C-E6BE-0F13-EFDA194C900D}"/>
              </a:ext>
            </a:extLst>
          </p:cNvPr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EE5AA60-F848-38FC-D5DC-355EA5B1CF0E}"/>
              </a:ext>
            </a:extLst>
          </p:cNvPr>
          <p:cNvSpPr txBox="1"/>
          <p:nvPr/>
        </p:nvSpPr>
        <p:spPr>
          <a:xfrm>
            <a:off x="3940602" y="106175"/>
            <a:ext cx="3945311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u="sng" dirty="0" err="1">
                <a:latin typeface="Formula1 Display-Bold" panose="02000000000000000000" pitchFamily="2" charset="0"/>
              </a:rPr>
              <a:t>Pre</a:t>
            </a:r>
            <a:r>
              <a:rPr lang="it-IT" sz="3200" u="sng" dirty="0">
                <a:latin typeface="Formula1 Display-Bold" panose="02000000000000000000" pitchFamily="2" charset="0"/>
              </a:rPr>
              <a:t> - processing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lang="it-IT" sz="1400" dirty="0">
                <a:latin typeface="Formula1 Display-Bold" panose="02000000000000000000" pitchFamily="2" charset="0"/>
              </a:rPr>
              <a:t>Trasformazione e creazione variabili</a:t>
            </a:r>
            <a:endParaRPr sz="1400" dirty="0">
              <a:latin typeface="Formula1 Display-Bold" panose="02000000000000000000" pitchFamily="2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7656B2C-2FE7-CA46-707A-244BD77093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08684" cy="330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FF1C7118-2922-3612-E990-D4A804A390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22323" y="-9209333"/>
            <a:ext cx="3705726" cy="1414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D67624A7-584E-1F54-8F03-87B5778961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-461211"/>
            <a:ext cx="4042611" cy="404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438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5C707-B962-1035-C28B-A15939541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 descr="Immagine che contiene veicolo, sport motoristici, ruota, macchina da corsa&#10;&#10;Il contenuto generato dall'IA potrebbe non essere corretto.">
            <a:extLst>
              <a:ext uri="{FF2B5EF4-FFF2-40B4-BE49-F238E27FC236}">
                <a16:creationId xmlns:a16="http://schemas.microsoft.com/office/drawing/2014/main" id="{5C82D72C-8800-7CB7-09D8-C2633A93F9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713873" y="-1020556"/>
            <a:ext cx="13768138" cy="76058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D755B0-9F2A-67C6-1D71-100C27C02334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8CA413-F4DE-B1EA-3CA4-601936141270}"/>
              </a:ext>
            </a:extLst>
          </p:cNvPr>
          <p:cNvSpPr txBox="1"/>
          <p:nvPr/>
        </p:nvSpPr>
        <p:spPr>
          <a:xfrm>
            <a:off x="467835" y="1962626"/>
            <a:ext cx="76773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-&gt; 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e 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dec_X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|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acc_y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|;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Variabili _lag1 e _lag5;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Statistiche descrittive;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Coefficiente di variazione;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EA0891-36E4-5071-EBCB-AE8EE69A5BBE}"/>
              </a:ext>
            </a:extLst>
          </p:cNvPr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FA1CD383-F96C-A85A-8D5F-257EAFE00D95}"/>
              </a:ext>
            </a:extLst>
          </p:cNvPr>
          <p:cNvSpPr txBox="1"/>
          <p:nvPr/>
        </p:nvSpPr>
        <p:spPr>
          <a:xfrm>
            <a:off x="3940602" y="106175"/>
            <a:ext cx="3945311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u="sng" dirty="0" err="1">
                <a:latin typeface="Formula1 Display-Bold" panose="02000000000000000000" pitchFamily="2" charset="0"/>
              </a:rPr>
              <a:t>Pre</a:t>
            </a:r>
            <a:r>
              <a:rPr lang="it-IT" sz="3200" u="sng" dirty="0">
                <a:latin typeface="Formula1 Display-Bold" panose="02000000000000000000" pitchFamily="2" charset="0"/>
              </a:rPr>
              <a:t> - processing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lang="it-IT" sz="1400" dirty="0">
                <a:latin typeface="Formula1 Display-Bold" panose="02000000000000000000" pitchFamily="2" charset="0"/>
              </a:rPr>
              <a:t>Trasformazione e creazione variabili</a:t>
            </a:r>
            <a:endParaRPr sz="1400" dirty="0">
              <a:latin typeface="Formula1 Display-Bold" panose="02000000000000000000" pitchFamily="2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8B7039A2-A6F9-AA23-E6BB-7A946A228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08684" cy="330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EB6ADA58-DA27-AA53-5419-0B1D4F1376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22323" y="-9209333"/>
            <a:ext cx="3705726" cy="1414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8C783B8D-872D-2D1A-0288-73046EFB3F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-461211"/>
            <a:ext cx="4042611" cy="404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7745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4CC1A-9CD6-E665-BEE0-8C66971E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 descr="Immagine che contiene veicolo, sport motoristici, ruota, macchina da corsa&#10;&#10;Il contenuto generato dall'IA potrebbe non essere corretto.">
            <a:extLst>
              <a:ext uri="{FF2B5EF4-FFF2-40B4-BE49-F238E27FC236}">
                <a16:creationId xmlns:a16="http://schemas.microsoft.com/office/drawing/2014/main" id="{DCBBE739-EB7A-182B-7FAE-BB39121751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713873" y="-1020556"/>
            <a:ext cx="13768138" cy="76058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414AD7C-30F6-9A53-9FC5-A9A55812FB83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46866D-E6BC-4AC4-E457-C5DDD4E99D63}"/>
              </a:ext>
            </a:extLst>
          </p:cNvPr>
          <p:cNvSpPr txBox="1"/>
          <p:nvPr/>
        </p:nvSpPr>
        <p:spPr>
          <a:xfrm>
            <a:off x="467835" y="1962626"/>
            <a:ext cx="767736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-&gt; 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e 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dec_X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|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acc_y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|;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Variabili _lag1 e _lag5;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Statistiche descrittive;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Coefficiente di variazione;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Normalizzazione [0 , 1 ];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Eliminazione delle correlazioni elevate per 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rindondanza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F024A2-F0C6-3629-68B6-15FD2B8E3BD1}"/>
              </a:ext>
            </a:extLst>
          </p:cNvPr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5E11B74-F29A-A455-E634-F9C53AC3DE80}"/>
              </a:ext>
            </a:extLst>
          </p:cNvPr>
          <p:cNvSpPr txBox="1"/>
          <p:nvPr/>
        </p:nvSpPr>
        <p:spPr>
          <a:xfrm>
            <a:off x="3940602" y="106175"/>
            <a:ext cx="3945311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u="sng" dirty="0" err="1">
                <a:latin typeface="Formula1 Display-Bold" panose="02000000000000000000" pitchFamily="2" charset="0"/>
              </a:rPr>
              <a:t>Pre</a:t>
            </a:r>
            <a:r>
              <a:rPr lang="it-IT" sz="3200" u="sng" dirty="0">
                <a:latin typeface="Formula1 Display-Bold" panose="02000000000000000000" pitchFamily="2" charset="0"/>
              </a:rPr>
              <a:t> - processing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lang="it-IT" sz="1400" dirty="0">
                <a:latin typeface="Formula1 Display-Bold" panose="02000000000000000000" pitchFamily="2" charset="0"/>
              </a:rPr>
              <a:t>Trasformazione e creazione variabili</a:t>
            </a:r>
            <a:endParaRPr sz="1400" dirty="0">
              <a:latin typeface="Formula1 Display-Bold" panose="02000000000000000000" pitchFamily="2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9748C71D-0FDE-2BBB-2C19-CA279A5CAB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08684" cy="330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8A22BFB5-A92D-D7C2-C0E7-8E28DAD610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22323" y="-9209333"/>
            <a:ext cx="3705726" cy="1414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34D9AE47-7F77-9E97-0E37-5908829559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-461211"/>
            <a:ext cx="4042611" cy="404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2113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84548" y="196023"/>
            <a:ext cx="1165704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 dirty="0">
                <a:latin typeface="Formula1 Display-Bold" panose="02000000000000000000" pitchFamily="2" charset="0"/>
              </a:rPr>
              <a:t>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17100" y="6400801"/>
            <a:ext cx="25578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lang="it-IT" sz="1400" dirty="0">
                <a:solidFill>
                  <a:schemeClr val="bg1"/>
                </a:solidFill>
              </a:rPr>
              <a:t>Proporzioni di varianza spiegata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mmagine 8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173C1F08-A465-4444-0143-52B815116A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1"/>
          <a:stretch>
            <a:fillRect/>
          </a:stretch>
        </p:blipFill>
        <p:spPr>
          <a:xfrm>
            <a:off x="2203794" y="1110423"/>
            <a:ext cx="7784412" cy="51627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164813"/>
            <a:ext cx="8268610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 dirty="0">
                <a:latin typeface="Formula1 Display-Bold" panose="02000000000000000000" pitchFamily="2" charset="0"/>
              </a:rPr>
              <a:t>PCA: </a:t>
            </a:r>
            <a:r>
              <a:rPr sz="3200" dirty="0" err="1">
                <a:latin typeface="Formula1 Display-Bold" panose="02000000000000000000" pitchFamily="2" charset="0"/>
              </a:rPr>
              <a:t>Interpretazione</a:t>
            </a:r>
            <a:r>
              <a:rPr sz="3200" dirty="0">
                <a:latin typeface="Formula1 Display-Bold" panose="02000000000000000000" pitchFamily="2" charset="0"/>
              </a:rPr>
              <a:t> </a:t>
            </a:r>
            <a:r>
              <a:rPr sz="3200" dirty="0" err="1">
                <a:latin typeface="Formula1 Display-Bold" panose="02000000000000000000" pitchFamily="2" charset="0"/>
              </a:rPr>
              <a:t>Componenti</a:t>
            </a:r>
            <a:endParaRPr sz="3200" dirty="0">
              <a:latin typeface="Formula1 Display-Bold" panose="02000000000000000000" pitchFamily="2" charset="0"/>
            </a:endParaRPr>
          </a:p>
        </p:txBody>
      </p:sp>
      <p:pic>
        <p:nvPicPr>
          <p:cNvPr id="4" name="Picture 3" descr="Loadings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188720"/>
            <a:ext cx="704088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693186"/>
            <a:ext cx="12192000" cy="164813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CF5EE6B-B28B-B502-5E39-BCEB25FF6EA4}"/>
              </a:ext>
            </a:extLst>
          </p:cNvPr>
          <p:cNvSpPr txBox="1"/>
          <p:nvPr/>
        </p:nvSpPr>
        <p:spPr>
          <a:xfrm>
            <a:off x="2885440" y="6343708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lang="it-IT" sz="1800" dirty="0">
                <a:solidFill>
                  <a:schemeClr val="bg1"/>
                </a:solidFill>
              </a:rPr>
              <a:t>Pesi delle componenti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F057AC6F-473C-5390-3083-1DEF36558C2A}"/>
              </a:ext>
            </a:extLst>
          </p:cNvPr>
          <p:cNvSpPr txBox="1"/>
          <p:nvPr/>
        </p:nvSpPr>
        <p:spPr>
          <a:xfrm>
            <a:off x="261620" y="1887438"/>
            <a:ext cx="404368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Componente: IN_OUT</a:t>
            </a:r>
            <a:b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</a:br>
            <a:b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</a:br>
            <a:endParaRPr lang="it-IT"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Componente: C_SHAPE</a:t>
            </a:r>
            <a:b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</a:br>
            <a:b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</a:br>
            <a:endParaRPr lang="it-IT"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Componente: TRANS</a:t>
            </a:r>
            <a:b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</a:br>
            <a:b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</a:br>
            <a:endParaRPr lang="it-IT"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Componente: Track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64813"/>
            <a:ext cx="8012130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 dirty="0">
                <a:latin typeface="Formula1 Display-Bold" panose="02000000000000000000" pitchFamily="2" charset="0"/>
              </a:rPr>
              <a:t>Clustering: 13 Cluster </a:t>
            </a:r>
            <a:r>
              <a:rPr sz="3200" dirty="0" err="1">
                <a:latin typeface="Formula1 Display-Bold" panose="02000000000000000000" pitchFamily="2" charset="0"/>
              </a:rPr>
              <a:t>Identificati</a:t>
            </a:r>
            <a:endParaRPr sz="3200" dirty="0">
              <a:latin typeface="Formula1 Display-Bold" panose="02000000000000000000" pitchFamily="2" charset="0"/>
            </a:endParaRPr>
          </a:p>
        </p:txBody>
      </p:sp>
      <p:pic>
        <p:nvPicPr>
          <p:cNvPr id="4" name="Picture 3" descr="C1_C2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88720"/>
            <a:ext cx="7040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07212" y="6400801"/>
            <a:ext cx="23775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 dirty="0" err="1">
                <a:solidFill>
                  <a:schemeClr val="bg1"/>
                </a:solidFill>
              </a:rPr>
              <a:t>Modello</a:t>
            </a:r>
            <a:r>
              <a:rPr sz="1400" dirty="0">
                <a:solidFill>
                  <a:schemeClr val="bg1"/>
                </a:solidFill>
              </a:rPr>
              <a:t> VII - BIC = -7108.435</a:t>
            </a:r>
            <a:r>
              <a:rPr lang="it-IT" sz="1400" dirty="0">
                <a:solidFill>
                  <a:schemeClr val="bg1"/>
                </a:solidFill>
              </a:rPr>
              <a:t> 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93187"/>
            <a:ext cx="12192000" cy="164813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164813"/>
            <a:ext cx="730680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 dirty="0">
                <a:latin typeface="Formula1 Display-Bold" panose="02000000000000000000" pitchFamily="2" charset="0"/>
              </a:rPr>
              <a:t>Clustering: </a:t>
            </a:r>
            <a:r>
              <a:rPr sz="3200" dirty="0" err="1">
                <a:latin typeface="Formula1 Display-Bold" panose="02000000000000000000" pitchFamily="2" charset="0"/>
              </a:rPr>
              <a:t>Visualizzazione</a:t>
            </a:r>
            <a:r>
              <a:rPr sz="3200" dirty="0">
                <a:latin typeface="Formula1 Display-Bold" panose="02000000000000000000" pitchFamily="2" charset="0"/>
              </a:rPr>
              <a:t> 3D</a:t>
            </a:r>
          </a:p>
        </p:txBody>
      </p:sp>
      <p:pic>
        <p:nvPicPr>
          <p:cNvPr id="4" name="Picture 3" descr="newplot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424" y="1005840"/>
            <a:ext cx="663607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19717" y="6400801"/>
            <a:ext cx="235256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IN_OUT vs C_SHAPE vs 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5887"/>
            <a:ext cx="12192000" cy="164813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46517" y="174398"/>
            <a:ext cx="9098966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 dirty="0">
                <a:latin typeface="Formula1 Display-Bold" panose="02000000000000000000" pitchFamily="2" charset="0"/>
              </a:rPr>
              <a:t>Distribuzione Cluster per Gran Premio</a:t>
            </a:r>
          </a:p>
        </p:txBody>
      </p:sp>
      <p:pic>
        <p:nvPicPr>
          <p:cNvPr id="4" name="Picture 3" descr="C_SHAPE__IN_OUT__GP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88720"/>
            <a:ext cx="704088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flipV="1">
            <a:off x="0" y="6655370"/>
            <a:ext cx="12192000" cy="210531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357F8-C835-DA9A-A55F-0C544BB6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FFA3D9-4F7A-43F3-AAB4-885C62677F9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5529E-AB98-838A-6794-EAFDB1FA1AA8}"/>
              </a:ext>
            </a:extLst>
          </p:cNvPr>
          <p:cNvSpPr txBox="1"/>
          <p:nvPr/>
        </p:nvSpPr>
        <p:spPr>
          <a:xfrm>
            <a:off x="1444916" y="164813"/>
            <a:ext cx="9098966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 dirty="0">
                <a:latin typeface="Formula1 Display-Bold" panose="02000000000000000000" pitchFamily="2" charset="0"/>
              </a:rPr>
              <a:t>Distribuzione Cluster per Gran Premio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C9500-3923-F17A-C932-2A2367976068}"/>
              </a:ext>
            </a:extLst>
          </p:cNvPr>
          <p:cNvSpPr/>
          <p:nvPr/>
        </p:nvSpPr>
        <p:spPr>
          <a:xfrm flipV="1">
            <a:off x="0" y="6655370"/>
            <a:ext cx="12192000" cy="210531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FA61210-1463-EFCF-AA49-B87599C37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382543"/>
              </p:ext>
            </p:extLst>
          </p:nvPr>
        </p:nvGraphicFramePr>
        <p:xfrm>
          <a:off x="495300" y="1079213"/>
          <a:ext cx="10998199" cy="5143782"/>
        </p:xfrm>
        <a:graphic>
          <a:graphicData uri="http://schemas.openxmlformats.org/drawingml/2006/table">
            <a:tbl>
              <a:tblPr/>
              <a:tblGrid>
                <a:gridCol w="1057519">
                  <a:extLst>
                    <a:ext uri="{9D8B030D-6E8A-4147-A177-3AD203B41FA5}">
                      <a16:colId xmlns:a16="http://schemas.microsoft.com/office/drawing/2014/main" val="4006996696"/>
                    </a:ext>
                  </a:extLst>
                </a:gridCol>
                <a:gridCol w="2502796">
                  <a:extLst>
                    <a:ext uri="{9D8B030D-6E8A-4147-A177-3AD203B41FA5}">
                      <a16:colId xmlns:a16="http://schemas.microsoft.com/office/drawing/2014/main" val="3830591499"/>
                    </a:ext>
                  </a:extLst>
                </a:gridCol>
                <a:gridCol w="2714300">
                  <a:extLst>
                    <a:ext uri="{9D8B030D-6E8A-4147-A177-3AD203B41FA5}">
                      <a16:colId xmlns:a16="http://schemas.microsoft.com/office/drawing/2014/main" val="3367839188"/>
                    </a:ext>
                  </a:extLst>
                </a:gridCol>
                <a:gridCol w="2361792">
                  <a:extLst>
                    <a:ext uri="{9D8B030D-6E8A-4147-A177-3AD203B41FA5}">
                      <a16:colId xmlns:a16="http://schemas.microsoft.com/office/drawing/2014/main" val="1814744847"/>
                    </a:ext>
                  </a:extLst>
                </a:gridCol>
                <a:gridCol w="2361792">
                  <a:extLst>
                    <a:ext uri="{9D8B030D-6E8A-4147-A177-3AD203B41FA5}">
                      <a16:colId xmlns:a16="http://schemas.microsoft.com/office/drawing/2014/main" val="3712610544"/>
                    </a:ext>
                  </a:extLst>
                </a:gridCol>
              </a:tblGrid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class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IN_OUT_mean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C_SHAPE_mean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TRANS_mean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TRACK_mean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199740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-2,35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-0,43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135073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-4,65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1,51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633054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-0,58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-1,97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032913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1,98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-1,44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3,35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28942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-0,80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-0,58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030712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1,61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-2,99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1,47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996614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-1,54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08188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-3,59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1,87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1,96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095470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-1,76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286651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241963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2,52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-1,88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573602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1,59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28674"/>
                  </a:ext>
                </a:extLst>
              </a:tr>
              <a:tr h="367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1,80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939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44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19358" y="245585"/>
            <a:ext cx="9294532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dirty="0">
                <a:latin typeface="Formula1 Display-Bold" panose="02000000000000000000" pitchFamily="2" charset="0"/>
              </a:rPr>
              <a:t>Mixture of Experts Models (MEM)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D56CDC0-6FD2-E666-BC96-58066C72D638}"/>
              </a:ext>
            </a:extLst>
          </p:cNvPr>
          <p:cNvSpPr txBox="1"/>
          <p:nvPr/>
        </p:nvSpPr>
        <p:spPr>
          <a:xfrm>
            <a:off x="2182195" y="2462943"/>
            <a:ext cx="2874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Ridurre effetto pista</a:t>
            </a:r>
          </a:p>
          <a:p>
            <a:endParaRPr lang="it-IT" dirty="0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5E3EBE3C-ED94-62F1-B288-5C507E6EA1D4}"/>
              </a:ext>
            </a:extLst>
          </p:cNvPr>
          <p:cNvSpPr/>
          <p:nvPr/>
        </p:nvSpPr>
        <p:spPr>
          <a:xfrm>
            <a:off x="5229916" y="2442117"/>
            <a:ext cx="1683834" cy="3693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CB5479E-593B-B164-5EED-DF8EF25B268A}"/>
              </a:ext>
            </a:extLst>
          </p:cNvPr>
          <p:cNvSpPr txBox="1"/>
          <p:nvPr/>
        </p:nvSpPr>
        <p:spPr>
          <a:xfrm>
            <a:off x="7260182" y="2441406"/>
            <a:ext cx="5590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IN_OUT, C_SHAPE, TRANS ~ TRACK</a:t>
            </a:r>
          </a:p>
          <a:p>
            <a:endParaRPr lang="it-IT" dirty="0"/>
          </a:p>
        </p:txBody>
      </p:sp>
      <p:sp>
        <p:nvSpPr>
          <p:cNvPr id="10" name="Freccia angolare in su 9">
            <a:extLst>
              <a:ext uri="{FF2B5EF4-FFF2-40B4-BE49-F238E27FC236}">
                <a16:creationId xmlns:a16="http://schemas.microsoft.com/office/drawing/2014/main" id="{F23AA822-4952-FC52-D91E-2289459C8921}"/>
              </a:ext>
            </a:extLst>
          </p:cNvPr>
          <p:cNvSpPr/>
          <p:nvPr/>
        </p:nvSpPr>
        <p:spPr>
          <a:xfrm rot="16200000" flipH="1">
            <a:off x="7636090" y="2842903"/>
            <a:ext cx="747132" cy="1215483"/>
          </a:xfrm>
          <a:prstGeom prst="bent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Freccia angolare in su 10">
            <a:extLst>
              <a:ext uri="{FF2B5EF4-FFF2-40B4-BE49-F238E27FC236}">
                <a16:creationId xmlns:a16="http://schemas.microsoft.com/office/drawing/2014/main" id="{03E75B3E-B2AE-8326-EF8C-A170F3183978}"/>
              </a:ext>
            </a:extLst>
          </p:cNvPr>
          <p:cNvSpPr/>
          <p:nvPr/>
        </p:nvSpPr>
        <p:spPr>
          <a:xfrm rot="5400000">
            <a:off x="4054576" y="2862148"/>
            <a:ext cx="747132" cy="1215483"/>
          </a:xfrm>
          <a:prstGeom prst="bent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C70D474-B865-AA69-0E26-4DDA172B6EB5}"/>
              </a:ext>
            </a:extLst>
          </p:cNvPr>
          <p:cNvSpPr txBox="1"/>
          <p:nvPr/>
        </p:nvSpPr>
        <p:spPr>
          <a:xfrm>
            <a:off x="5475249" y="3484099"/>
            <a:ext cx="1550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Stili di guida</a:t>
            </a:r>
            <a:endParaRPr lang="it-IT" dirty="0">
              <a:latin typeface="Formula1 Display-Regular" panose="02000000000000000000" pitchFamily="2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F95FE70-CA7C-4B2B-6F17-3EA5DE5DC556}"/>
              </a:ext>
            </a:extLst>
          </p:cNvPr>
          <p:cNvSpPr txBox="1"/>
          <p:nvPr/>
        </p:nvSpPr>
        <p:spPr>
          <a:xfrm>
            <a:off x="5404624" y="4097665"/>
            <a:ext cx="1855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Formula1 Display-Regular" panose="02000000000000000000" pitchFamily="2" charset="0"/>
              </a:rPr>
              <a:t> 1. Reattivo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5221714-A2CE-9414-A6A8-09AF4BF16378}"/>
              </a:ext>
            </a:extLst>
          </p:cNvPr>
          <p:cNvSpPr txBox="1"/>
          <p:nvPr/>
        </p:nvSpPr>
        <p:spPr>
          <a:xfrm>
            <a:off x="5404624" y="4476482"/>
            <a:ext cx="233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Formula1 Display-Regular" panose="02000000000000000000" pitchFamily="2" charset="0"/>
              </a:rPr>
              <a:t> 2. 'V' estremo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028EFBE-0E09-0C87-2480-DC1780929984}"/>
              </a:ext>
            </a:extLst>
          </p:cNvPr>
          <p:cNvSpPr txBox="1"/>
          <p:nvPr/>
        </p:nvSpPr>
        <p:spPr>
          <a:xfrm>
            <a:off x="5404623" y="4834906"/>
            <a:ext cx="256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Formula1 Display-Regular" panose="02000000000000000000" pitchFamily="2" charset="0"/>
              </a:rPr>
              <a:t> 3. Percorrenza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411AB6F-70B3-885B-BFE9-B63CCD41FB4E}"/>
              </a:ext>
            </a:extLst>
          </p:cNvPr>
          <p:cNvSpPr txBox="1"/>
          <p:nvPr/>
        </p:nvSpPr>
        <p:spPr>
          <a:xfrm>
            <a:off x="5380457" y="5179938"/>
            <a:ext cx="138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Formula1 Display-Regular" panose="02000000000000000000" pitchFamily="2" charset="0"/>
              </a:rPr>
              <a:t> 4. Fluido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04FDE-07A2-BD17-32C0-8C4DD5FE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43A3E7-EA1D-EE6A-26D7-4B847FD0CB3C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2FBCD-83A4-5441-89F3-D3111B31FD71}"/>
              </a:ext>
            </a:extLst>
          </p:cNvPr>
          <p:cNvSpPr txBox="1"/>
          <p:nvPr/>
        </p:nvSpPr>
        <p:spPr>
          <a:xfrm>
            <a:off x="1577164" y="225475"/>
            <a:ext cx="9294532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dirty="0">
                <a:latin typeface="Formula1 Display-Bold" panose="02000000000000000000" pitchFamily="2" charset="0"/>
              </a:rPr>
              <a:t>Mixture of Experts Models (MEM)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F8031C-87D8-2624-891B-EEE504D7C514}"/>
              </a:ext>
            </a:extLst>
          </p:cNvPr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0E520A1-473E-8E80-62F7-F0575EE57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628006"/>
              </p:ext>
            </p:extLst>
          </p:nvPr>
        </p:nvGraphicFramePr>
        <p:xfrm>
          <a:off x="481216" y="1679601"/>
          <a:ext cx="10931855" cy="4470677"/>
        </p:xfrm>
        <a:graphic>
          <a:graphicData uri="http://schemas.openxmlformats.org/drawingml/2006/table">
            <a:tbl>
              <a:tblPr/>
              <a:tblGrid>
                <a:gridCol w="1538970">
                  <a:extLst>
                    <a:ext uri="{9D8B030D-6E8A-4147-A177-3AD203B41FA5}">
                      <a16:colId xmlns:a16="http://schemas.microsoft.com/office/drawing/2014/main" val="2138078174"/>
                    </a:ext>
                  </a:extLst>
                </a:gridCol>
                <a:gridCol w="2833772">
                  <a:extLst>
                    <a:ext uri="{9D8B030D-6E8A-4147-A177-3AD203B41FA5}">
                      <a16:colId xmlns:a16="http://schemas.microsoft.com/office/drawing/2014/main" val="696764682"/>
                    </a:ext>
                  </a:extLst>
                </a:gridCol>
                <a:gridCol w="2186371">
                  <a:extLst>
                    <a:ext uri="{9D8B030D-6E8A-4147-A177-3AD203B41FA5}">
                      <a16:colId xmlns:a16="http://schemas.microsoft.com/office/drawing/2014/main" val="3723575565"/>
                    </a:ext>
                  </a:extLst>
                </a:gridCol>
                <a:gridCol w="2186371">
                  <a:extLst>
                    <a:ext uri="{9D8B030D-6E8A-4147-A177-3AD203B41FA5}">
                      <a16:colId xmlns:a16="http://schemas.microsoft.com/office/drawing/2014/main" val="1171299432"/>
                    </a:ext>
                  </a:extLst>
                </a:gridCol>
                <a:gridCol w="2186371">
                  <a:extLst>
                    <a:ext uri="{9D8B030D-6E8A-4147-A177-3AD203B41FA5}">
                      <a16:colId xmlns:a16="http://schemas.microsoft.com/office/drawing/2014/main" val="401000365"/>
                    </a:ext>
                  </a:extLst>
                </a:gridCol>
              </a:tblGrid>
              <a:tr h="6276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class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IN_OUT_mean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C_SHAPE_mean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TRANS_mean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TRACK_mean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485352"/>
                  </a:ext>
                </a:extLst>
              </a:tr>
              <a:tr h="882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733173"/>
                  </a:ext>
                </a:extLst>
              </a:tr>
              <a:tr h="882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-2,44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027793"/>
                  </a:ext>
                </a:extLst>
              </a:tr>
              <a:tr h="8341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78876"/>
                  </a:ext>
                </a:extLst>
              </a:tr>
              <a:tr h="691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-1,24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260502"/>
                  </a:ext>
                </a:extLst>
              </a:tr>
              <a:tr h="5528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240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990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64813"/>
            <a:ext cx="7167347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 dirty="0">
                <a:latin typeface="Formula1 Display-Bold" panose="02000000000000000000" pitchFamily="2" charset="0"/>
              </a:rPr>
              <a:t>MEM: </a:t>
            </a:r>
            <a:r>
              <a:rPr sz="3200" dirty="0" err="1">
                <a:latin typeface="Formula1 Display-Bold" panose="02000000000000000000" pitchFamily="2" charset="0"/>
              </a:rPr>
              <a:t>Regressioni</a:t>
            </a:r>
            <a:r>
              <a:rPr sz="3200" dirty="0">
                <a:latin typeface="Formula1 Display-Bold" panose="02000000000000000000" pitchFamily="2" charset="0"/>
              </a:rPr>
              <a:t> per Cluster</a:t>
            </a:r>
          </a:p>
        </p:txBody>
      </p:sp>
      <p:pic>
        <p:nvPicPr>
          <p:cNvPr id="4" name="Picture 3" descr="C1_C4_R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88720"/>
            <a:ext cx="7040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44362" y="6400801"/>
            <a:ext cx="33032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 dirty="0" err="1">
                <a:solidFill>
                  <a:schemeClr val="bg1"/>
                </a:solidFill>
              </a:rPr>
              <a:t>Relazione</a:t>
            </a:r>
            <a:r>
              <a:rPr sz="1400" dirty="0">
                <a:solidFill>
                  <a:schemeClr val="bg1"/>
                </a:solidFill>
              </a:rPr>
              <a:t> TRACK vs C_SHAPE per </a:t>
            </a:r>
            <a:r>
              <a:rPr sz="1400" dirty="0" err="1">
                <a:solidFill>
                  <a:schemeClr val="bg1"/>
                </a:solidFill>
              </a:rPr>
              <a:t>i</a:t>
            </a:r>
            <a:r>
              <a:rPr sz="1400" dirty="0">
                <a:solidFill>
                  <a:schemeClr val="bg1"/>
                </a:solidFill>
              </a:rPr>
              <a:t> 4 cluster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magine 7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93E36CF1-F1E1-9F73-AEC2-BCC5BE040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1130013"/>
            <a:ext cx="7040880" cy="50926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95341" y="174398"/>
            <a:ext cx="612218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 dirty="0">
                <a:latin typeface="Formula1 Display-Bold" panose="02000000000000000000" pitchFamily="2" charset="0"/>
              </a:rPr>
              <a:t>MEM: </a:t>
            </a:r>
            <a:r>
              <a:rPr sz="3200" dirty="0" err="1">
                <a:latin typeface="Formula1 Display-Bold" panose="02000000000000000000" pitchFamily="2" charset="0"/>
              </a:rPr>
              <a:t>Visualizzazione</a:t>
            </a:r>
            <a:r>
              <a:rPr sz="3200" dirty="0">
                <a:latin typeface="Formula1 Display-Bold" panose="02000000000000000000" pitchFamily="2" charset="0"/>
              </a:rPr>
              <a:t> 3D</a:t>
            </a:r>
          </a:p>
        </p:txBody>
      </p:sp>
      <p:pic>
        <p:nvPicPr>
          <p:cNvPr id="4" name="Picture 3" descr="newplot2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1188720"/>
            <a:ext cx="663607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43612" y="6400801"/>
            <a:ext cx="41047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IN_OUT vs C_SHAPE vs TRACK con </a:t>
            </a:r>
            <a:r>
              <a:rPr sz="1400" dirty="0" err="1">
                <a:solidFill>
                  <a:schemeClr val="bg1"/>
                </a:solidFill>
              </a:rPr>
              <a:t>piani</a:t>
            </a:r>
            <a:r>
              <a:rPr sz="1400" dirty="0">
                <a:solidFill>
                  <a:schemeClr val="bg1"/>
                </a:solidFill>
              </a:rPr>
              <a:t> di </a:t>
            </a:r>
            <a:r>
              <a:rPr sz="1400" dirty="0" err="1">
                <a:solidFill>
                  <a:schemeClr val="bg1"/>
                </a:solidFill>
              </a:rPr>
              <a:t>regressione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93187"/>
            <a:ext cx="12192000" cy="164813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225475"/>
            <a:ext cx="6580648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dirty="0" err="1">
                <a:latin typeface="Formula1 Display-Bold" panose="02000000000000000000" pitchFamily="2" charset="0"/>
              </a:rPr>
              <a:t>Stili</a:t>
            </a:r>
            <a:r>
              <a:rPr sz="3600" dirty="0">
                <a:latin typeface="Formula1 Display-Bold" panose="02000000000000000000" pitchFamily="2" charset="0"/>
              </a:rPr>
              <a:t> di Guida </a:t>
            </a:r>
            <a:r>
              <a:rPr sz="3600" dirty="0" err="1">
                <a:latin typeface="Formula1 Display-Bold" panose="02000000000000000000" pitchFamily="2" charset="0"/>
              </a:rPr>
              <a:t>Identificati</a:t>
            </a:r>
            <a:endParaRPr sz="3600" dirty="0">
              <a:latin typeface="Formula1 Display-Bold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64080" y="2074123"/>
            <a:ext cx="78638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Esempi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di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piloti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per cluster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Cluster 2: Verstappen, Leclerc (guida a ‘V’)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Cluster 4: Norris, Russell (guida fluida)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Risultati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coerenti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con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osservazioni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reali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F1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Limitazione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: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dipendenza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da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geometria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tracciato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225475"/>
            <a:ext cx="7710765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dirty="0" err="1">
                <a:latin typeface="Formula1 Display-Bold" panose="02000000000000000000" pitchFamily="2" charset="0"/>
              </a:rPr>
              <a:t>Conclusioni</a:t>
            </a:r>
            <a:r>
              <a:rPr sz="3600" dirty="0">
                <a:latin typeface="Formula1 Display-Bold" panose="02000000000000000000" pitchFamily="2" charset="0"/>
              </a:rPr>
              <a:t> e </a:t>
            </a:r>
            <a:r>
              <a:rPr sz="3600" dirty="0" err="1">
                <a:latin typeface="Formula1 Display-Bold" panose="02000000000000000000" pitchFamily="2" charset="0"/>
              </a:rPr>
              <a:t>Sviluppi</a:t>
            </a:r>
            <a:r>
              <a:rPr sz="3600" dirty="0">
                <a:latin typeface="Formula1 Display-Bold" panose="02000000000000000000" pitchFamily="2" charset="0"/>
              </a:rPr>
              <a:t> </a:t>
            </a:r>
            <a:r>
              <a:rPr sz="3600" dirty="0" err="1">
                <a:latin typeface="Formula1 Display-Bold" panose="02000000000000000000" pitchFamily="2" charset="0"/>
              </a:rPr>
              <a:t>Futuri</a:t>
            </a:r>
            <a:endParaRPr sz="3600" dirty="0">
              <a:latin typeface="Formula1 Display-Bold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8892" y="1529644"/>
            <a:ext cx="8780529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Pattern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identificati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nei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dati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telemetrici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PCA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efficace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per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riduzione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dimensionalità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MEM utile per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controllare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effetto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pista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;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Sviluppi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futuri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:</a:t>
            </a:r>
            <a:endParaRPr lang="it-IT"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Variabili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aggiuntive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(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punti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staccata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,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angolo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sterzo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)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Analisi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multi-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stagione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Validazione</a:t>
            </a:r>
            <a:r>
              <a:rPr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con </a:t>
            </a:r>
            <a:r>
              <a:rPr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esperti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;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7842" y="2692569"/>
            <a:ext cx="10676321" cy="10156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sz="6000" dirty="0">
                <a:latin typeface="Formula1 Display-Black" panose="02000000000000000000" pitchFamily="2" charset="0"/>
              </a:rPr>
              <a:t>Grazie per </a:t>
            </a:r>
            <a:r>
              <a:rPr sz="6000" dirty="0" err="1">
                <a:latin typeface="Formula1 Display-Black" panose="02000000000000000000" pitchFamily="2" charset="0"/>
              </a:rPr>
              <a:t>l'attenzione</a:t>
            </a:r>
            <a:r>
              <a:rPr sz="6000" dirty="0">
                <a:latin typeface="Formula1 Display-Black" panose="02000000000000000000" pitchFamily="2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4126</Words>
  <Application>Microsoft Office PowerPoint</Application>
  <PresentationFormat>Widescreen</PresentationFormat>
  <Paragraphs>945</Paragraphs>
  <Slides>22</Slides>
  <Notes>21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31" baseType="lpstr">
      <vt:lpstr>Aptos</vt:lpstr>
      <vt:lpstr>Aptos Narrow</vt:lpstr>
      <vt:lpstr>Arial</vt:lpstr>
      <vt:lpstr>Calibri</vt:lpstr>
      <vt:lpstr>Formula1 Display Bold</vt:lpstr>
      <vt:lpstr>Formula1 Display-Black</vt:lpstr>
      <vt:lpstr>Formula1 Display-Bold</vt:lpstr>
      <vt:lpstr>Formula1 Display-Regular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f.maccianti@campus.unimib.it</cp:lastModifiedBy>
  <cp:revision>15</cp:revision>
  <dcterms:created xsi:type="dcterms:W3CDTF">2013-01-27T09:14:16Z</dcterms:created>
  <dcterms:modified xsi:type="dcterms:W3CDTF">2026-01-13T20:19:02Z</dcterms:modified>
  <cp:category/>
</cp:coreProperties>
</file>