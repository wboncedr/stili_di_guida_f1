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71" r:id="rId5"/>
    <p:sldId id="259" r:id="rId6"/>
    <p:sldId id="273" r:id="rId7"/>
    <p:sldId id="276" r:id="rId8"/>
    <p:sldId id="277" r:id="rId9"/>
    <p:sldId id="278" r:id="rId10"/>
    <p:sldId id="260" r:id="rId11"/>
    <p:sldId id="261" r:id="rId12"/>
    <p:sldId id="262" r:id="rId13"/>
    <p:sldId id="263" r:id="rId14"/>
    <p:sldId id="264" r:id="rId15"/>
    <p:sldId id="279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70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361" autoAdjust="0"/>
  </p:normalViewPr>
  <p:slideViewPr>
    <p:cSldViewPr snapToGrid="0" snapToObjects="1">
      <p:cViewPr varScale="1">
        <p:scale>
          <a:sx n="85" d="100"/>
          <a:sy n="85" d="100"/>
        </p:scale>
        <p:origin x="1554" y="9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969F74-5B56-4D9C-A3CE-9CD19CA2C1BC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DBB07F-30ED-420F-8579-BA5526A52A4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777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BB07F-30ED-420F-8579-BA5526A52A4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163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Obiettivo principale: identificare pattern distintivi negli stili di guida dei piloti di Formula 1.</a:t>
            </a:r>
          </a:p>
          <a:p>
            <a:endParaRPr/>
          </a:p>
          <a:p>
            <a:r>
              <a:t>Dataset:</a:t>
            </a:r>
          </a:p>
          <a:p>
            <a:r>
              <a:t>- Telemetrie complete delle sessioni di qualifica della stagione 2025</a:t>
            </a:r>
          </a:p>
          <a:p>
            <a:r>
              <a:t>- Miglior giro per ciascun pilota in ogni Gran Premio (24 GP totali)</a:t>
            </a:r>
          </a:p>
          <a:p>
            <a:r>
              <a:t>- Variabili: velocità, accelerazioni longitudinali/laterali, throttle, freno, RPM, marcia, DRS</a:t>
            </a:r>
          </a:p>
          <a:p>
            <a:endParaRPr/>
          </a:p>
          <a:p>
            <a:r>
              <a:t>Metodologia:</a:t>
            </a:r>
          </a:p>
          <a:p>
            <a:r>
              <a:t>- Approccio statistico: Model-Based Clustering</a:t>
            </a:r>
          </a:p>
          <a:p>
            <a:r>
              <a:t>- Riduzione dimensionalità tramite PCA</a:t>
            </a:r>
          </a:p>
          <a:p>
            <a:r>
              <a:t>- Mixture of Experts Models per controllare l'effetto pista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995A-DB22-D534-AF0C-D1C4129C0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2ACED-7E9F-E384-A4AE-23E2BADD6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C4896-756F-614B-BACF-D4F4BC26F1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BACE-7421-3C8B-562F-301123B79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24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CFD8-4B7E-194A-3269-174FE01A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237286-D713-5427-7BD2-10932D4BA1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968E6-A18C-B600-F28B-C58690162D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7EC0A-513B-A2C8-7EE4-6942D7E08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132759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B6735-8629-E4E0-64CF-F5AAC9C4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8B6D2-BC4C-345D-2FA2-A10A7789F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5E5E85-6010-A044-3030-9EC5964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114A5-4D2C-A471-0586-B08842775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3699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5BDE-6A42-C307-BA25-AADB319E2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F1F4F7-4D10-1057-8922-5D008762D4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97231-E19A-7AFC-3113-E9CC3AFB9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F8FE1-E1F4-A062-BCDF-AA23DD39D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49911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9E7AF-74EE-665B-B95D-46D60E0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3E89B-75AE-656E-99CC-1830B35E83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B60A7-D228-6B28-D40E-C3ACA32AA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3B916-2F00-5B52-86E7-EB3BF0B93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63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Analisi</a:t>
            </a:r>
            <a:r>
              <a:rPr dirty="0"/>
              <a:t> delle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(PCA):</a:t>
            </a:r>
          </a:p>
          <a:p>
            <a:endParaRPr dirty="0"/>
          </a:p>
          <a:p>
            <a:r>
              <a:rPr dirty="0" err="1"/>
              <a:t>Obiettivo</a:t>
            </a:r>
            <a:r>
              <a:rPr dirty="0"/>
              <a:t>: </a:t>
            </a:r>
            <a:r>
              <a:rPr dirty="0" err="1"/>
              <a:t>ridurre</a:t>
            </a:r>
            <a:r>
              <a:rPr dirty="0"/>
              <a:t> la </a:t>
            </a:r>
            <a:r>
              <a:rPr dirty="0" err="1"/>
              <a:t>dimensionalità</a:t>
            </a:r>
            <a:r>
              <a:rPr dirty="0"/>
              <a:t> da 26 </a:t>
            </a:r>
            <a:r>
              <a:rPr dirty="0" err="1"/>
              <a:t>variabili</a:t>
            </a:r>
            <a:r>
              <a:rPr dirty="0"/>
              <a:t> a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Risultati</a:t>
            </a:r>
            <a:r>
              <a:rPr dirty="0"/>
              <a:t>:</a:t>
            </a:r>
          </a:p>
          <a:p>
            <a:r>
              <a:rPr dirty="0"/>
              <a:t>- Comp.1: ~25%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Comp.2: ~15%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Comp.3: ~12%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Comp.4: ~10%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</a:t>
            </a:r>
            <a:r>
              <a:rPr dirty="0" err="1"/>
              <a:t>Totale</a:t>
            </a:r>
            <a:r>
              <a:rPr dirty="0"/>
              <a:t>: &gt;60% </a:t>
            </a:r>
            <a:r>
              <a:rPr dirty="0" err="1"/>
              <a:t>varianza</a:t>
            </a:r>
            <a:r>
              <a:rPr dirty="0"/>
              <a:t> </a:t>
            </a:r>
            <a:r>
              <a:rPr dirty="0" err="1"/>
              <a:t>spiegata</a:t>
            </a:r>
            <a:endParaRPr dirty="0"/>
          </a:p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di:</a:t>
            </a:r>
          </a:p>
          <a:p>
            <a:r>
              <a:rPr dirty="0"/>
              <a:t>1. </a:t>
            </a:r>
            <a:r>
              <a:rPr dirty="0" err="1"/>
              <a:t>Ridurre</a:t>
            </a:r>
            <a:r>
              <a:rPr dirty="0"/>
              <a:t> il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computazionale</a:t>
            </a:r>
            <a:r>
              <a:rPr dirty="0"/>
              <a:t> del clustering</a:t>
            </a:r>
          </a:p>
          <a:p>
            <a:r>
              <a:rPr dirty="0"/>
              <a:t>2. </a:t>
            </a:r>
            <a:r>
              <a:rPr dirty="0" err="1"/>
              <a:t>Eliminare</a:t>
            </a:r>
            <a:r>
              <a:rPr dirty="0"/>
              <a:t> </a:t>
            </a:r>
            <a:r>
              <a:rPr dirty="0" err="1"/>
              <a:t>rumore</a:t>
            </a:r>
            <a:r>
              <a:rPr dirty="0"/>
              <a:t> e </a:t>
            </a:r>
            <a:r>
              <a:rPr dirty="0" err="1"/>
              <a:t>ridondanza</a:t>
            </a:r>
            <a:endParaRPr dirty="0"/>
          </a:p>
          <a:p>
            <a:r>
              <a:rPr dirty="0"/>
              <a:t>3. </a:t>
            </a:r>
            <a:r>
              <a:rPr dirty="0" err="1"/>
              <a:t>Ottenere</a:t>
            </a:r>
            <a:r>
              <a:rPr dirty="0"/>
              <a:t>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 dal punto di vista </a:t>
            </a:r>
            <a:r>
              <a:rPr dirty="0" err="1"/>
              <a:t>fisico</a:t>
            </a:r>
            <a:r>
              <a:rPr dirty="0"/>
              <a:t>/</a:t>
            </a:r>
            <a:r>
              <a:rPr dirty="0" err="1"/>
              <a:t>tecnico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Interpretazione</a:t>
            </a:r>
            <a:r>
              <a:rPr dirty="0"/>
              <a:t> delle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IN_OUT (Comp.1):</a:t>
            </a:r>
          </a:p>
          <a:p>
            <a:r>
              <a:rPr dirty="0"/>
              <a:t>   - </a:t>
            </a:r>
            <a:r>
              <a:rPr dirty="0" err="1"/>
              <a:t>Separa</a:t>
            </a:r>
            <a:r>
              <a:rPr dirty="0"/>
              <a:t> </a:t>
            </a:r>
            <a:r>
              <a:rPr dirty="0" err="1"/>
              <a:t>stili</a:t>
            </a:r>
            <a:r>
              <a:rPr dirty="0"/>
              <a:t> con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</a:t>
            </a:r>
            <a:r>
              <a:rPr dirty="0" err="1"/>
              <a:t>nell'erogazione</a:t>
            </a:r>
            <a:r>
              <a:rPr dirty="0"/>
              <a:t> </a:t>
            </a:r>
            <a:r>
              <a:rPr dirty="0" err="1"/>
              <a:t>potenza</a:t>
            </a:r>
            <a:r>
              <a:rPr dirty="0"/>
              <a:t> vs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in </a:t>
            </a:r>
            <a:r>
              <a:rPr dirty="0" err="1"/>
              <a:t>decelerazione</a:t>
            </a:r>
            <a:endParaRPr dirty="0"/>
          </a:p>
          <a:p>
            <a:r>
              <a:rPr dirty="0"/>
              <a:t>   - Score alti: </a:t>
            </a:r>
            <a:r>
              <a:rPr dirty="0" err="1"/>
              <a:t>trazione</a:t>
            </a:r>
            <a:r>
              <a:rPr dirty="0"/>
              <a:t> "</a:t>
            </a:r>
            <a:r>
              <a:rPr dirty="0" err="1"/>
              <a:t>sporca</a:t>
            </a:r>
            <a:r>
              <a:rPr dirty="0"/>
              <a:t>" con </a:t>
            </a:r>
            <a:r>
              <a:rPr dirty="0" err="1"/>
              <a:t>correzioni</a:t>
            </a:r>
            <a:r>
              <a:rPr dirty="0"/>
              <a:t> continue </a:t>
            </a:r>
            <a:r>
              <a:rPr dirty="0" err="1"/>
              <a:t>sull'acceleratore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frenata</a:t>
            </a:r>
            <a:r>
              <a:rPr dirty="0"/>
              <a:t> </a:t>
            </a:r>
            <a:r>
              <a:rPr dirty="0" err="1"/>
              <a:t>modulata</a:t>
            </a:r>
            <a:r>
              <a:rPr dirty="0"/>
              <a:t>, </a:t>
            </a:r>
            <a:r>
              <a:rPr dirty="0" err="1"/>
              <a:t>uscita</a:t>
            </a:r>
            <a:r>
              <a:rPr dirty="0"/>
              <a:t> curva </a:t>
            </a:r>
            <a:r>
              <a:rPr dirty="0" err="1"/>
              <a:t>composta</a:t>
            </a:r>
            <a:r>
              <a:rPr dirty="0"/>
              <a:t> e </a:t>
            </a:r>
            <a:r>
              <a:rPr dirty="0" err="1"/>
              <a:t>lineare</a:t>
            </a:r>
            <a:endParaRPr dirty="0"/>
          </a:p>
          <a:p>
            <a:endParaRPr dirty="0"/>
          </a:p>
          <a:p>
            <a:r>
              <a:rPr dirty="0"/>
              <a:t>2. C_SHAPE (Comp.2):</a:t>
            </a:r>
          </a:p>
          <a:p>
            <a:r>
              <a:rPr dirty="0"/>
              <a:t>   - Distingue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basata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pura (long.) vs </a:t>
            </a:r>
            <a:r>
              <a:rPr dirty="0" err="1"/>
              <a:t>velocità</a:t>
            </a:r>
            <a:r>
              <a:rPr dirty="0"/>
              <a:t> di </a:t>
            </a:r>
            <a:r>
              <a:rPr dirty="0" err="1"/>
              <a:t>percorrenza</a:t>
            </a:r>
            <a:r>
              <a:rPr dirty="0"/>
              <a:t> (lat.)</a:t>
            </a:r>
          </a:p>
          <a:p>
            <a:r>
              <a:rPr dirty="0"/>
              <a:t>   - Score alti: stile a "V" (</a:t>
            </a:r>
            <a:r>
              <a:rPr dirty="0" err="1"/>
              <a:t>frenata</a:t>
            </a:r>
            <a:r>
              <a:rPr dirty="0"/>
              <a:t> </a:t>
            </a:r>
            <a:r>
              <a:rPr dirty="0" err="1"/>
              <a:t>profonda</a:t>
            </a:r>
            <a:r>
              <a:rPr dirty="0"/>
              <a:t>, </a:t>
            </a:r>
            <a:r>
              <a:rPr dirty="0" err="1"/>
              <a:t>ripartenza</a:t>
            </a:r>
            <a:r>
              <a:rPr dirty="0"/>
              <a:t> </a:t>
            </a:r>
            <a:r>
              <a:rPr dirty="0" err="1"/>
              <a:t>rapida</a:t>
            </a:r>
            <a:r>
              <a:rPr dirty="0"/>
              <a:t>)</a:t>
            </a:r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stile </a:t>
            </a:r>
            <a:r>
              <a:rPr dirty="0" err="1"/>
              <a:t>basato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di </a:t>
            </a:r>
            <a:r>
              <a:rPr dirty="0" err="1"/>
              <a:t>percorrenza</a:t>
            </a:r>
            <a:r>
              <a:rPr dirty="0"/>
              <a:t> e </a:t>
            </a:r>
            <a:r>
              <a:rPr dirty="0" err="1"/>
              <a:t>gestione</a:t>
            </a:r>
            <a:r>
              <a:rPr dirty="0"/>
              <a:t> </a:t>
            </a:r>
            <a:r>
              <a:rPr dirty="0" err="1"/>
              <a:t>carico</a:t>
            </a:r>
            <a:r>
              <a:rPr dirty="0"/>
              <a:t> </a:t>
            </a:r>
            <a:r>
              <a:rPr dirty="0" err="1"/>
              <a:t>laterale</a:t>
            </a:r>
            <a:endParaRPr dirty="0"/>
          </a:p>
          <a:p>
            <a:endParaRPr dirty="0"/>
          </a:p>
          <a:p>
            <a:r>
              <a:rPr dirty="0"/>
              <a:t>3. TRANS (Comp.3):</a:t>
            </a:r>
          </a:p>
          <a:p>
            <a:r>
              <a:rPr dirty="0"/>
              <a:t>   - </a:t>
            </a:r>
            <a:r>
              <a:rPr dirty="0" err="1"/>
              <a:t>Discrimina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della curva</a:t>
            </a:r>
          </a:p>
          <a:p>
            <a:r>
              <a:rPr dirty="0"/>
              <a:t>   - Score alti: </a:t>
            </a:r>
            <a:r>
              <a:rPr dirty="0" err="1"/>
              <a:t>forti</a:t>
            </a:r>
            <a:r>
              <a:rPr dirty="0"/>
              <a:t> </a:t>
            </a:r>
            <a:r>
              <a:rPr dirty="0" err="1"/>
              <a:t>staccate</a:t>
            </a:r>
            <a:r>
              <a:rPr dirty="0"/>
              <a:t>, </a:t>
            </a:r>
            <a:r>
              <a:rPr dirty="0" err="1"/>
              <a:t>forti</a:t>
            </a:r>
            <a:r>
              <a:rPr dirty="0"/>
              <a:t> </a:t>
            </a:r>
            <a:r>
              <a:rPr dirty="0" err="1"/>
              <a:t>accelerazioni</a:t>
            </a:r>
            <a:r>
              <a:rPr dirty="0"/>
              <a:t>, </a:t>
            </a:r>
            <a:r>
              <a:rPr dirty="0" err="1"/>
              <a:t>bassa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percorrenza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percorrenza</a:t>
            </a:r>
            <a:r>
              <a:rPr dirty="0"/>
              <a:t>, </a:t>
            </a:r>
            <a:r>
              <a:rPr dirty="0" err="1"/>
              <a:t>poca</a:t>
            </a:r>
            <a:r>
              <a:rPr dirty="0"/>
              <a:t> </a:t>
            </a:r>
            <a:r>
              <a:rPr dirty="0" err="1"/>
              <a:t>variazione</a:t>
            </a:r>
            <a:r>
              <a:rPr dirty="0"/>
              <a:t> </a:t>
            </a:r>
            <a:r>
              <a:rPr dirty="0" err="1"/>
              <a:t>longitudinale</a:t>
            </a:r>
            <a:endParaRPr dirty="0"/>
          </a:p>
          <a:p>
            <a:endParaRPr dirty="0"/>
          </a:p>
          <a:p>
            <a:r>
              <a:rPr dirty="0"/>
              <a:t>4. TRACK (Comp.4):</a:t>
            </a:r>
          </a:p>
          <a:p>
            <a:r>
              <a:rPr dirty="0"/>
              <a:t>   - </a:t>
            </a:r>
            <a:r>
              <a:rPr dirty="0" err="1"/>
              <a:t>Caratterizza</a:t>
            </a:r>
            <a:r>
              <a:rPr dirty="0"/>
              <a:t> la </a:t>
            </a:r>
            <a:r>
              <a:rPr dirty="0" err="1"/>
              <a:t>configurazione</a:t>
            </a:r>
            <a:r>
              <a:rPr dirty="0"/>
              <a:t> della </a:t>
            </a:r>
            <a:r>
              <a:rPr dirty="0" err="1"/>
              <a:t>pista</a:t>
            </a:r>
            <a:endParaRPr dirty="0"/>
          </a:p>
          <a:p>
            <a:r>
              <a:rPr dirty="0"/>
              <a:t>   - Score alti: </a:t>
            </a:r>
            <a:r>
              <a:rPr dirty="0" err="1"/>
              <a:t>maggiore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</a:t>
            </a:r>
            <a:r>
              <a:rPr dirty="0" err="1"/>
              <a:t>velocità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andamento</a:t>
            </a:r>
            <a:r>
              <a:rPr dirty="0"/>
              <a:t> </a:t>
            </a:r>
            <a:r>
              <a:rPr dirty="0" err="1"/>
              <a:t>regolare</a:t>
            </a:r>
            <a:r>
              <a:rPr dirty="0"/>
              <a:t> e </a:t>
            </a:r>
            <a:r>
              <a:rPr dirty="0" err="1"/>
              <a:t>uniforme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Model-Based Clustering - Primo Modello:</a:t>
            </a:r>
          </a:p>
          <a:p>
            <a:endParaRPr/>
          </a:p>
          <a:p>
            <a:r>
              <a:t>Modello selezionato: VII (Volume variabile, forma sferica, orientamento identico)</a:t>
            </a:r>
          </a:p>
          <a:p>
            <a:r>
              <a:t>- 13 cluster identificati</a:t>
            </a:r>
          </a:p>
          <a:p>
            <a:r>
              <a:t>- 77 parametri stimati</a:t>
            </a:r>
          </a:p>
          <a:p>
            <a:r>
              <a:t>- BIC = -7108.435</a:t>
            </a:r>
          </a:p>
          <a:p>
            <a:r>
              <a:t>- KL distance = 89.622</a:t>
            </a:r>
          </a:p>
          <a:p>
            <a:r>
              <a:t>- Incertezza media = 0.0796</a:t>
            </a:r>
          </a:p>
          <a:p>
            <a:endParaRPr/>
          </a:p>
          <a:p>
            <a:r>
              <a:t>Il grafico mostra la separazione dei cluster nello spazio delle prime due componenti (IN_OUT vs C_SHAPE).</a:t>
            </a:r>
          </a:p>
          <a:p>
            <a:r>
              <a:t>La sovrapposizione visiva è dovuta all'informazione contenuta nelle altre componenti (TRANS e TRACK).</a:t>
            </a:r>
          </a:p>
          <a:p>
            <a:endParaRPr/>
          </a:p>
          <a:p>
            <a:r>
              <a:t>Problema: i cluster descrivono principalmente i TRACCIATI, non gli stili di guida dei piloti.</a:t>
            </a:r>
          </a:p>
          <a:p>
            <a:r>
              <a:t>Questo ha portato allo sviluppo del secondo approccio con MEM.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primo clustering:</a:t>
            </a:r>
          </a:p>
          <a:p>
            <a:endParaRPr/>
          </a:p>
          <a:p>
            <a:r>
              <a:t>Questo grafico 3D mostra come l'aggiunta della componente TRACK migliori significativamente</a:t>
            </a:r>
          </a:p>
          <a:p>
            <a:r>
              <a:t>la separabilità dei cluster rispetto alla visualizzazione 2D.</a:t>
            </a:r>
          </a:p>
          <a:p>
            <a:endParaRPr/>
          </a:p>
          <a:p>
            <a:r>
              <a:t>Osservazioni:</a:t>
            </a:r>
          </a:p>
          <a:p>
            <a:r>
              <a:t>- I cluster sono ben separati nello spazio tridimensionale</a:t>
            </a:r>
          </a:p>
          <a:p>
            <a:r>
              <a:t>- La componente TRACK (asse Z) discrimina fortemente i circuiti</a:t>
            </a:r>
          </a:p>
          <a:p>
            <a:r>
              <a:t>- Conferma che il modello cattura principalmente caratteristiche dei tracciati</a:t>
            </a:r>
          </a:p>
          <a:p>
            <a:endParaRPr/>
          </a:p>
          <a:p>
            <a:r>
              <a:t>Esempi di cluster:</a:t>
            </a:r>
          </a:p>
          <a:p>
            <a:r>
              <a:t>- Monaco (Classe 13): uso gas ritmico, alta IN_OUT</a:t>
            </a:r>
          </a:p>
          <a:p>
            <a:r>
              <a:t>- Monza (Classe 2): staccate profonde, trazione pulita</a:t>
            </a:r>
          </a:p>
          <a:p>
            <a:r>
              <a:t>- Spa/Silverstone (Classi 8-9): assenza frenate decise, alta C_SHAPE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DF32C-D5DF-B2B5-30C7-4050DDCB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0874D1-6359-4DDB-5EFD-B0AC32D01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29E23-7BDF-3D54-1BC6-A1C2FCCACA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3574E-FE2B-E7B7-294D-5117DBC8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830801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Mixture of Experts Models (MEM):</a:t>
            </a:r>
          </a:p>
          <a:p>
            <a:endParaRPr/>
          </a:p>
          <a:p>
            <a:r>
              <a:t>Motivazione:</a:t>
            </a:r>
          </a:p>
          <a:p>
            <a:r>
              <a:t>Il primo clustering ha identificato principalmente caratteristiche dei tracciati.</a:t>
            </a:r>
          </a:p>
          <a:p>
            <a:r>
              <a:t>Per isolare gli stili di guida, è necessario controllare l'effetto della pista.</a:t>
            </a:r>
          </a:p>
          <a:p>
            <a:endParaRPr/>
          </a:p>
          <a:p>
            <a:r>
              <a:t>Approccio:</a:t>
            </a:r>
          </a:p>
          <a:p>
            <a:r>
              <a:t>- Regressione normale multivariata</a:t>
            </a:r>
          </a:p>
          <a:p>
            <a:r>
              <a:t>- Variabili dipendenti: IN_OUT, C_SHAPE, TRANS</a:t>
            </a:r>
          </a:p>
          <a:p>
            <a:r>
              <a:t>- Variabile esplicativa: TRACK</a:t>
            </a:r>
          </a:p>
          <a:p>
            <a:r>
              <a:t>- Questo permette di "rimuovere" l'effetto della configurazione del tracciato</a:t>
            </a:r>
          </a:p>
          <a:p>
            <a:endParaRPr/>
          </a:p>
          <a:p>
            <a:r>
              <a:t>Risultati - 4 cluster (stili di guida):</a:t>
            </a:r>
          </a:p>
          <a:p>
            <a:endParaRPr/>
          </a:p>
          <a:p>
            <a:r>
              <a:t>1. Cluster 1 - Reattivo:</a:t>
            </a:r>
          </a:p>
          <a:p>
            <a:r>
              <a:t>   - Alto IN_OUT, medio C_SHAPE, basso TRANS</a:t>
            </a:r>
          </a:p>
          <a:p>
            <a:r>
              <a:t>   - Correzioni frequenti sull'acceleratore</a:t>
            </a:r>
          </a:p>
          <a:p>
            <a:r>
              <a:t>   - Mantiene elevate velocità di percorrenza</a:t>
            </a:r>
          </a:p>
          <a:p>
            <a:endParaRPr/>
          </a:p>
          <a:p>
            <a:r>
              <a:t>2. Cluster 2 - 'V' estremo:</a:t>
            </a:r>
          </a:p>
          <a:p>
            <a:r>
              <a:t>   - Basso IN_OUT, alto C_SHAPE, alto TRANS</a:t>
            </a:r>
          </a:p>
          <a:p>
            <a:r>
              <a:t>   - Staccate profonde, ripartenze rapide</a:t>
            </a:r>
          </a:p>
          <a:p>
            <a:r>
              <a:t>   - Erogazione molto pulita</a:t>
            </a:r>
          </a:p>
          <a:p>
            <a:r>
              <a:t>   - Esempi: Verstappen, Leclerc</a:t>
            </a:r>
          </a:p>
          <a:p>
            <a:endParaRPr/>
          </a:p>
          <a:p>
            <a:r>
              <a:t>3. Cluster 3 - Percorrenza:</a:t>
            </a:r>
          </a:p>
          <a:p>
            <a:r>
              <a:t>   - Alto IN_OUT, basso C_SHAPE, alto TRANS</a:t>
            </a:r>
          </a:p>
          <a:p>
            <a:r>
              <a:t>   - Focus su carico laterale</a:t>
            </a:r>
          </a:p>
          <a:p>
            <a:r>
              <a:t>   - Trazione "sporca" con correzioni</a:t>
            </a:r>
          </a:p>
          <a:p>
            <a:endParaRPr/>
          </a:p>
          <a:p>
            <a:r>
              <a:t>4. Cluster 4 - Fluido:</a:t>
            </a:r>
          </a:p>
          <a:p>
            <a:r>
              <a:t>   - Basso IN_OUT, basso C_SHAPE, basso TRANS</a:t>
            </a:r>
          </a:p>
          <a:p>
            <a:r>
              <a:t>   - Massima stabilità e fluidità</a:t>
            </a:r>
          </a:p>
          <a:p>
            <a:r>
              <a:t>   - Minime variazioni longitudinali</a:t>
            </a:r>
          </a:p>
          <a:p>
            <a:r>
              <a:t>   - Esempi: Norris, Russell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delle regressioni MEM:</a:t>
            </a:r>
          </a:p>
          <a:p>
            <a:endParaRPr/>
          </a:p>
          <a:p>
            <a:r>
              <a:t>Questo grafico mostra come ciascun cluster (stile di guida) si comporta in funzione</a:t>
            </a:r>
          </a:p>
          <a:p>
            <a:r>
              <a:t>della componente TRACK (configurazione pista).</a:t>
            </a:r>
          </a:p>
          <a:p>
            <a:endParaRPr/>
          </a:p>
          <a:p>
            <a:r>
              <a:t>Osservazioni:</a:t>
            </a:r>
          </a:p>
          <a:p>
            <a:r>
              <a:t>- Ogni cluster ha una relazione lineare distinta con TRACK</a:t>
            </a:r>
          </a:p>
          <a:p>
            <a:r>
              <a:t>- Le pendenze diverse indicano che gli stili reagiscono diversamente ai tracciati</a:t>
            </a:r>
          </a:p>
          <a:p>
            <a:r>
              <a:t>- Cluster 2 (rosso): pendenza positiva marcata</a:t>
            </a:r>
          </a:p>
          <a:p>
            <a:r>
              <a:t>- Cluster 4 (blu): pendenza negativa</a:t>
            </a:r>
          </a:p>
          <a:p>
            <a:r>
              <a:t>- Cluster 1 e 3: pendenze intermedie</a:t>
            </a:r>
          </a:p>
          <a:p>
            <a:endParaRPr/>
          </a:p>
          <a:p>
            <a:r>
              <a:t>Questo conferma che il modello MEM riesce a separare gli stili di guida</a:t>
            </a:r>
          </a:p>
          <a:p>
            <a:r>
              <a:t>controllando per l'effetto della pista.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modello MEM:</a:t>
            </a:r>
          </a:p>
          <a:p>
            <a:endParaRPr/>
          </a:p>
          <a:p>
            <a:r>
              <a:t>Questo grafico mostra:</a:t>
            </a:r>
          </a:p>
          <a:p>
            <a:r>
              <a:t>- Punti: osservazioni colorate per cluster</a:t>
            </a:r>
          </a:p>
          <a:p>
            <a:r>
              <a:t>- Linee: piani di regressione per ciascun cluster</a:t>
            </a:r>
          </a:p>
          <a:p>
            <a:endParaRPr/>
          </a:p>
          <a:p>
            <a:r>
              <a:t>La visualizzazione 3D evidenzia come il MEM modelli la relazione tra:</a:t>
            </a:r>
          </a:p>
          <a:p>
            <a:r>
              <a:t>- Le componenti di stile (IN_OUT, C_SHAPE, TRANS)</a:t>
            </a:r>
          </a:p>
          <a:p>
            <a:r>
              <a:t>- La componente di tracciato (TRACK)</a:t>
            </a:r>
          </a:p>
          <a:p>
            <a:endParaRPr/>
          </a:p>
          <a:p>
            <a:r>
              <a:t>I piani di regressione paralleli ma distinti confermano che i 4 cluster</a:t>
            </a:r>
          </a:p>
          <a:p>
            <a:r>
              <a:t>rappresentano stili di guida diversi che si adattano ai circuiti in modo differente.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Interpretazione dei risultati:</a:t>
            </a:r>
          </a:p>
          <a:p>
            <a:endParaRPr/>
          </a:p>
          <a:p>
            <a:r>
              <a:t>Successi:</a:t>
            </a:r>
          </a:p>
          <a:p>
            <a:r>
              <a:t>- I cluster identificati corrispondono a stili di guida osservabili nella realtà</a:t>
            </a:r>
          </a:p>
          <a:p>
            <a:r>
              <a:t>- Cluster 2 (Verstappen, Leclerc): noto stile aggressivo a "V"</a:t>
            </a:r>
          </a:p>
          <a:p>
            <a:r>
              <a:t>- Cluster 4 (Norris, Russell): noto stile fluido e composto</a:t>
            </a:r>
          </a:p>
          <a:p>
            <a:r>
              <a:t>- Risultati coerenti con analisi di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dipendenza dalla geometria del tracciato</a:t>
            </a:r>
          </a:p>
          <a:p>
            <a:r>
              <a:t>- Anche con MEM, l'effetto pista non è completamente eliminato</a:t>
            </a:r>
          </a:p>
          <a:p>
            <a:endParaRPr/>
          </a:p>
          <a:p>
            <a:r>
              <a:t>Possibili cause:</a:t>
            </a:r>
          </a:p>
          <a:p>
            <a:r>
              <a:t>1. Le variabili utilizzate potrebbero non essere sufficientemente discriminanti</a:t>
            </a:r>
          </a:p>
          <a:p>
            <a:r>
              <a:t>   - Potrebbero servire: punti di staccata, angolo sterzo, traiettorie</a:t>
            </a:r>
          </a:p>
          <a:p>
            <a:r>
              <a:t>2. I piloti potrebbero adattarsi ai circuiti più che mantenere uno stile fisso</a:t>
            </a:r>
          </a:p>
          <a:p>
            <a:r>
              <a:t>   - L'adattamento al tracciato potrebbe essere parte integrante dello "stile"</a:t>
            </a:r>
          </a:p>
          <a:p>
            <a:endParaRPr/>
          </a:p>
          <a:p>
            <a:r>
              <a:t>Distribuzione piloti nei cluster (esempi):</a:t>
            </a:r>
          </a:p>
          <a:p>
            <a:r>
              <a:t>- Bearman: 8 giri Cluster 1, 4 Cluster 2, 1 Cluster 3, 10 Cluster 4</a:t>
            </a:r>
          </a:p>
          <a:p>
            <a:r>
              <a:t>- Colapinto: 9 Cluster 1, 2 Cluster 2, 2 Cluster 3, 5 Cluster 4</a:t>
            </a:r>
          </a:p>
          <a:p>
            <a:r>
              <a:t>- Leclerc: 9 Cluster 1, 3 Cluster 2, 1 Cluster 3, 11 Cluster 4</a:t>
            </a:r>
          </a:p>
          <a:p>
            <a:r>
              <a:t>- Norris: 9 Cluster 1, 4 Cluster 2, 1 Cluster 3, 10 Cluster 4</a:t>
            </a:r>
          </a:p>
          <a:p>
            <a:r>
              <a:t>- Russell: 9 Cluster 1, 3 Cluster 2, 1 Cluster 3, 10 Cluster 4</a:t>
            </a:r>
          </a:p>
          <a:p>
            <a:r>
              <a:t>- Verstappen: 8 Cluster 1, 3 Cluster 2, 3 Cluster 3, 10 Cluster 4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Conclusioni:</a:t>
            </a:r>
          </a:p>
          <a:p>
            <a:endParaRPr/>
          </a:p>
          <a:p>
            <a:r>
              <a:t>Successi del progetto:</a:t>
            </a:r>
          </a:p>
          <a:p>
            <a:r>
              <a:t>1. Identificazione di pattern significativi nei dati telemetrici</a:t>
            </a:r>
          </a:p>
          <a:p>
            <a:r>
              <a:t>2. PCA efficace per riduzione dimensionalità mantenendo interpretabilità</a:t>
            </a:r>
          </a:p>
          <a:p>
            <a:r>
              <a:t>3. MEM utile per controllare l'effetto della covariata (pista)</a:t>
            </a:r>
          </a:p>
          <a:p>
            <a:r>
              <a:t>4. Risultati coerenti con osservazioni qualitative degli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influenza della geometria del tracciato anche dopo MEM</a:t>
            </a:r>
          </a:p>
          <a:p>
            <a:r>
              <a:t>- Necessità di variabili più specifiche per lo stile di guida</a:t>
            </a:r>
          </a:p>
          <a:p>
            <a:endParaRPr/>
          </a:p>
          <a:p>
            <a:r>
              <a:t>Sviluppi futuri proposti:</a:t>
            </a:r>
          </a:p>
          <a:p>
            <a:r>
              <a:t>1. Variabili aggiuntive:</a:t>
            </a:r>
          </a:p>
          <a:p>
            <a:r>
              <a:t>   - Punti di staccata (metri prima della curva)</a:t>
            </a:r>
          </a:p>
          <a:p>
            <a:r>
              <a:t>   - Angolo sterzo e sua modulazione</a:t>
            </a:r>
          </a:p>
          <a:p>
            <a:r>
              <a:t>   - Traiettorie (punti di corda, ingresso/uscita curva)</a:t>
            </a:r>
          </a:p>
          <a:p>
            <a:r>
              <a:t>   - Temperatura gomme e pressioni</a:t>
            </a:r>
          </a:p>
          <a:p>
            <a:endParaRPr/>
          </a:p>
          <a:p>
            <a:r>
              <a:t>2. Analisi temporale:</a:t>
            </a:r>
          </a:p>
          <a:p>
            <a:r>
              <a:t>   - Estendere l'analisi a più stagioni</a:t>
            </a:r>
          </a:p>
          <a:p>
            <a:r>
              <a:t>   - Studiare l'evoluzione degli stili di guida nel tempo</a:t>
            </a:r>
          </a:p>
          <a:p>
            <a:r>
              <a:t>   - Analizzare l'adattamento dei piloti a nuove vetture</a:t>
            </a:r>
          </a:p>
          <a:p>
            <a:endParaRPr/>
          </a:p>
          <a:p>
            <a:r>
              <a:t>3. Validazione:</a:t>
            </a:r>
          </a:p>
          <a:p>
            <a:r>
              <a:t>   - Confronto con analisi di esperti del settore</a:t>
            </a:r>
          </a:p>
          <a:p>
            <a:r>
              <a:t>   - Interviste con ingegneri di pista</a:t>
            </a:r>
          </a:p>
          <a:p>
            <a:r>
              <a:t>   - Validazione con simulatori professionali</a:t>
            </a:r>
          </a:p>
          <a:p>
            <a:endParaRPr/>
          </a:p>
          <a:p>
            <a:r>
              <a:t>4. Metodologie alternative:</a:t>
            </a:r>
          </a:p>
          <a:p>
            <a:r>
              <a:t>   - Deep Learning per pattern recognition</a:t>
            </a:r>
          </a:p>
          <a:p>
            <a:r>
              <a:t>   - Time series clustering per analisi dinamiche</a:t>
            </a:r>
          </a:p>
          <a:p>
            <a:r>
              <a:t>   - Functional Data Analysis per curve telemetriche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TracingInsights/2025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a.com/sites/default/files/fia_2025_formula_1_sporting_regulations_-_issue_1_-_2024-07-31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rpubs.com/FedeMacc/138734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rpubs.com/FedeMacc/1387354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8" name="Picture 14" descr="Scarica lo sfondo del Guardala Potenza Della Macchina Ferrari F1 In Azione.  | Wallpapers.com">
            <a:extLst>
              <a:ext uri="{FF2B5EF4-FFF2-40B4-BE49-F238E27FC236}">
                <a16:creationId xmlns:a16="http://schemas.microsoft.com/office/drawing/2014/main" id="{8BFBD3A6-CC4B-F5D6-B2D1-98B91E4BE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199"/>
            <a:ext cx="12192000" cy="7546063"/>
          </a:xfrm>
          <a:prstGeom prst="rect">
            <a:avLst/>
          </a:prstGeom>
          <a:noFill/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4181" y="1646864"/>
            <a:ext cx="860363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sz="5400" dirty="0" err="1">
                <a:latin typeface="Formula1 Display Bold" panose="02000000000000000000" pitchFamily="2" charset="0"/>
                <a:cs typeface="Lucida Sans Unicode" panose="020B0602030504020204" pitchFamily="34" charset="0"/>
              </a:rPr>
              <a:t>Analisi</a:t>
            </a:r>
            <a:r>
              <a:rPr sz="5400" dirty="0">
                <a:latin typeface="Formula1 Display Bold" panose="02000000000000000000" pitchFamily="2" charset="0"/>
                <a:cs typeface="Lucida Sans Unicode" panose="020B0602030504020204" pitchFamily="34" charset="0"/>
              </a:rPr>
              <a:t> Telemetrie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2631" y="3281940"/>
            <a:ext cx="8165592" cy="56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Identificazione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degli </a:t>
            </a: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Stili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di Guida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50C9BEF-BB2C-1C3F-36C2-7AF1FD3A2FC8}"/>
              </a:ext>
            </a:extLst>
          </p:cNvPr>
          <p:cNvSpPr txBox="1"/>
          <p:nvPr/>
        </p:nvSpPr>
        <p:spPr>
          <a:xfrm>
            <a:off x="209825" y="6077635"/>
            <a:ext cx="8165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Gruppo CORES</a:t>
            </a:r>
          </a:p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Maccianti Federico • </a:t>
            </a:r>
            <a:r>
              <a:rPr lang="it-IT" dirty="0" err="1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Rapacioli</a:t>
            </a:r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Nicola • Riva Pietro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D8330596-0548-B131-7D6F-ED69F61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15385"/>
            <a:ext cx="12191999" cy="603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25332" y="1490008"/>
            <a:ext cx="116666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Lo studio è basato sulla repository </a:t>
            </a:r>
            <a:r>
              <a:rPr lang="it-IT" sz="20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TracingInsights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Per le sessioni di qualifica del 2025 selezionando il miglior giro di ciascun pilota . 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" y="0"/>
            <a:ext cx="12191998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399" y="233665"/>
            <a:ext cx="5642891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lang="it-IT" sz="3600" dirty="0">
                <a:latin typeface="Formula1 Display-Bold" panose="02000000000000000000" pitchFamily="2" charset="0"/>
              </a:rPr>
              <a:t>Fonti</a:t>
            </a:r>
            <a:endParaRPr sz="3600" dirty="0">
              <a:latin typeface="Formula1 Display-Bold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80207F0B-575C-F2C8-406F-FE27F098A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932507"/>
              </p:ext>
            </p:extLst>
          </p:nvPr>
        </p:nvGraphicFramePr>
        <p:xfrm>
          <a:off x="525332" y="3183467"/>
          <a:ext cx="10972794" cy="2367993"/>
        </p:xfrm>
        <a:graphic>
          <a:graphicData uri="http://schemas.openxmlformats.org/drawingml/2006/table">
            <a:tbl>
              <a:tblPr/>
              <a:tblGrid>
                <a:gridCol w="1550221">
                  <a:extLst>
                    <a:ext uri="{9D8B030D-6E8A-4147-A177-3AD203B41FA5}">
                      <a16:colId xmlns:a16="http://schemas.microsoft.com/office/drawing/2014/main" val="43386297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61144043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18876585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76837237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71169717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85628297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324349527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51917115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0101501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091093431"/>
                    </a:ext>
                  </a:extLst>
                </a:gridCol>
                <a:gridCol w="767319">
                  <a:extLst>
                    <a:ext uri="{9D8B030D-6E8A-4147-A177-3AD203B41FA5}">
                      <a16:colId xmlns:a16="http://schemas.microsoft.com/office/drawing/2014/main" val="313402791"/>
                    </a:ext>
                  </a:extLst>
                </a:gridCol>
                <a:gridCol w="341219">
                  <a:extLst>
                    <a:ext uri="{9D8B030D-6E8A-4147-A177-3AD203B41FA5}">
                      <a16:colId xmlns:a16="http://schemas.microsoft.com/office/drawing/2014/main" val="110155760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82625174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87315890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28165549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648343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84335482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098464709"/>
                    </a:ext>
                  </a:extLst>
                </a:gridCol>
              </a:tblGrid>
              <a:tr h="3891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5792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4,83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11318,00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350,24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-12,51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48,48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4112,11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802403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4,99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11181,00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358,46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4177,81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2538,51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20762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11106,16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183,28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360,96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-8,89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50,65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4200,00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740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10716,97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174,34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373,45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90749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10702,00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373,93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-5,88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4324,38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2687,23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00890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10603,00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385,26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43,82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8,41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4363,56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2753,84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839216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5,74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10667,39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168,94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51,61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394,14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35,98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12,22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7089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10725,00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30,72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24,52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4390,27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2921,60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6336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10749,62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402,53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27,03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815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609308" y="106175"/>
            <a:ext cx="6607899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dirty="0">
                <a:latin typeface="Formula1 Display-Bold" panose="02000000000000000000" pitchFamily="2" charset="0"/>
              </a:rPr>
              <a:t>Accorgimenti sulle variabili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USA GP</a:t>
            </a:r>
          </a:p>
        </p:txBody>
      </p:sp>
      <p:pic>
        <p:nvPicPr>
          <p:cNvPr id="4" name="Picture 3" descr="tel_ex1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436" y="1143000"/>
            <a:ext cx="770312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42733" y="6400801"/>
            <a:ext cx="630653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Verstappen, Leclerc, Norris, Colapinto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74710-4DE0-EF49-9DCB-23DBD45F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973450-F28C-7319-489E-78C8B69FC599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48DB81-1BD8-43BE-D78A-A13D85B088E3}"/>
              </a:ext>
            </a:extLst>
          </p:cNvPr>
          <p:cNvSpPr txBox="1"/>
          <p:nvPr/>
        </p:nvSpPr>
        <p:spPr>
          <a:xfrm>
            <a:off x="3916557" y="106175"/>
            <a:ext cx="399340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</a:t>
            </a:r>
            <a:r>
              <a:rPr lang="it-IT" sz="1400" dirty="0">
                <a:latin typeface="Formula1 Display-Bold" panose="02000000000000000000" pitchFamily="2" charset="0"/>
              </a:rPr>
              <a:t>AUSTRALIA</a:t>
            </a:r>
            <a:r>
              <a:rPr sz="1400" dirty="0">
                <a:latin typeface="Formula1 Display-Bold" panose="02000000000000000000" pitchFamily="2" charset="0"/>
              </a:rPr>
              <a:t> GP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D978F-06DF-F8DA-6F6F-13DC2C76DA54}"/>
              </a:ext>
            </a:extLst>
          </p:cNvPr>
          <p:cNvSpPr txBox="1"/>
          <p:nvPr/>
        </p:nvSpPr>
        <p:spPr>
          <a:xfrm>
            <a:off x="3410014" y="6400801"/>
            <a:ext cx="537198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	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Bearman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Hamilton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Tsunoda</a:t>
            </a:r>
            <a:endParaRPr sz="14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0C5A4B-463B-D479-593C-C9AA4C54C5B4}"/>
              </a:ext>
            </a:extLst>
          </p:cNvPr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E4DBD9C-F34A-65A2-A053-1582A919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331" y="1052945"/>
            <a:ext cx="7735077" cy="52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158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2400" y="2074136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Rimozione dati mancanti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9F2B46A-6C5D-DECC-F568-6ACD05D37081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64124A2-1993-0014-F04B-AB3F039E830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9D56459-2F93-25C1-8D37-1D39F2442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31163"/>
              </p:ext>
            </p:extLst>
          </p:nvPr>
        </p:nvGraphicFramePr>
        <p:xfrm>
          <a:off x="233986" y="2800858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F58D0-4F77-9F36-B187-B2A8E27D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DF9BB1-7226-FF78-7F7D-48664EEC67DE}"/>
              </a:ext>
            </a:extLst>
          </p:cNvPr>
          <p:cNvSpPr txBox="1"/>
          <p:nvPr/>
        </p:nvSpPr>
        <p:spPr>
          <a:xfrm>
            <a:off x="152400" y="2074136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Rimozione dati mancanti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1F309C-88B4-A64B-7137-A7E30F47303C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EA22B08-9064-7F51-FAC1-CD33A0DAAE7E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343D0E1C-DB4F-7D00-F0E4-17C868DA89E1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63BBD3D2-FC89-955C-F803-8D24709B06CF}"/>
              </a:ext>
            </a:extLst>
          </p:cNvPr>
          <p:cNvSpPr txBox="1"/>
          <p:nvPr/>
        </p:nvSpPr>
        <p:spPr>
          <a:xfrm>
            <a:off x="233979" y="4419921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Validazione con regola FIA (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  <a:hlinkClick r:id="rId3"/>
              </a:rPr>
              <a:t>39.4.b.i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);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E31EE459-E4E2-AF9F-F3BB-154999282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353167"/>
              </p:ext>
            </p:extLst>
          </p:nvPr>
        </p:nvGraphicFramePr>
        <p:xfrm>
          <a:off x="152400" y="4912628"/>
          <a:ext cx="11805621" cy="1318260"/>
        </p:xfrm>
        <a:graphic>
          <a:graphicData uri="http://schemas.openxmlformats.org/drawingml/2006/table">
            <a:tbl>
              <a:tblPr/>
              <a:tblGrid>
                <a:gridCol w="4327327">
                  <a:extLst>
                    <a:ext uri="{9D8B030D-6E8A-4147-A177-3AD203B41FA5}">
                      <a16:colId xmlns:a16="http://schemas.microsoft.com/office/drawing/2014/main" val="3961951618"/>
                    </a:ext>
                  </a:extLst>
                </a:gridCol>
                <a:gridCol w="2016619">
                  <a:extLst>
                    <a:ext uri="{9D8B030D-6E8A-4147-A177-3AD203B41FA5}">
                      <a16:colId xmlns:a16="http://schemas.microsoft.com/office/drawing/2014/main" val="2568902521"/>
                    </a:ext>
                  </a:extLst>
                </a:gridCol>
                <a:gridCol w="5461675">
                  <a:extLst>
                    <a:ext uri="{9D8B030D-6E8A-4147-A177-3AD203B41FA5}">
                      <a16:colId xmlns:a16="http://schemas.microsoft.com/office/drawing/2014/main" val="13621582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7084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Dutch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92.046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2017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16856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116.314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8767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116.674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9071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117.115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6432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TSU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116.798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544099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75F8ABFB-8FD2-7481-F71E-7B517641E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796120"/>
              </p:ext>
            </p:extLst>
          </p:nvPr>
        </p:nvGraphicFramePr>
        <p:xfrm>
          <a:off x="233986" y="2800858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215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C2402-D72E-1962-F744-C7DDFC28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814544CC-0E48-9D08-864C-C9184AB0F2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8E2EBB9-3E97-AAB2-BE17-47C3B49695FA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64621-0CB3-9975-80FA-518EFC04A767}"/>
              </a:ext>
            </a:extLst>
          </p:cNvPr>
          <p:cNvSpPr txBox="1"/>
          <p:nvPr/>
        </p:nvSpPr>
        <p:spPr>
          <a:xfrm>
            <a:off x="467835" y="1962626"/>
            <a:ext cx="767736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E5681C-108C-E6BE-0F13-EFDA194C900D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EE5AA60-F848-38FC-D5DC-355EA5B1CF0E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7656B2C-2FE7-CA46-707A-244BD77093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FF1C7118-2922-3612-E990-D4A804A390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D67624A7-584E-1F54-8F03-87B5778961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382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5C707-B962-1035-C28B-A15939541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5C82D72C-8800-7CB7-09D8-C2633A93F9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2D755B0-9F2A-67C6-1D71-100C27C02334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CA413-F4DE-B1EA-3CA4-601936141270}"/>
              </a:ext>
            </a:extLst>
          </p:cNvPr>
          <p:cNvSpPr txBox="1"/>
          <p:nvPr/>
        </p:nvSpPr>
        <p:spPr>
          <a:xfrm>
            <a:off x="467835" y="1962626"/>
            <a:ext cx="76773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Variabili _lag1 e _lag5;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Statistiche riassuntive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Coefficiente di variazione;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EA0891-36E4-5071-EBCB-AE8EE69A5BBE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FA1CD383-F96C-A85A-8D5F-257EAFE00D95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8B7039A2-A6F9-AA23-E6BB-7A946A2288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EB6ADA58-DA27-AA53-5419-0B1D4F1376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8C783B8D-872D-2D1A-0288-73046EFB3F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7745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4CC1A-9CD6-E665-BEE0-8C66971E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DCBBE739-EB7A-182B-7FAE-BB39121751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414AD7C-30F6-9A53-9FC5-A9A55812FB83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6866D-E6BC-4AC4-E457-C5DDD4E99D63}"/>
              </a:ext>
            </a:extLst>
          </p:cNvPr>
          <p:cNvSpPr txBox="1"/>
          <p:nvPr/>
        </p:nvSpPr>
        <p:spPr>
          <a:xfrm>
            <a:off x="467835" y="1962626"/>
            <a:ext cx="767736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Variabili _lag1 e _lag5;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Statistiche riassuntive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Coefficiente di variazione;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Normalizzazione [0 , 1 ];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Eliminazione delle correlazioni elevate per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rindondanza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F024A2-F0C6-3629-68B6-15FD2B8E3BD1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5E11B74-F29A-A455-E634-F9C53AC3DE8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9748C71D-0FDE-2BBB-2C19-CA279A5CAB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8A22BFB5-A92D-D7C2-C0E7-8E28DAD610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34D9AE47-7F77-9E97-0E37-5908829559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2113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84548" y="196023"/>
            <a:ext cx="116570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PCA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17100" y="6400801"/>
            <a:ext cx="255781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lang="it-IT" sz="1400" dirty="0">
                <a:solidFill>
                  <a:schemeClr val="bg1"/>
                </a:solidFill>
              </a:rPr>
              <a:t>Proporzioni di varianza spiegata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magine 8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173C1F08-A465-4444-0143-52B81511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01"/>
          <a:stretch>
            <a:fillRect/>
          </a:stretch>
        </p:blipFill>
        <p:spPr>
          <a:xfrm>
            <a:off x="2203794" y="1110423"/>
            <a:ext cx="7784412" cy="51627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590097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PCA: Interpretazione Componenti</a:t>
            </a:r>
          </a:p>
        </p:txBody>
      </p:sp>
      <p:pic>
        <p:nvPicPr>
          <p:cNvPr id="4" name="Picture 3" descr="Loadings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693186"/>
            <a:ext cx="12192000" cy="164813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CF5EE6B-B28B-B502-5E39-BCEB25FF6EA4}"/>
              </a:ext>
            </a:extLst>
          </p:cNvPr>
          <p:cNvSpPr txBox="1"/>
          <p:nvPr/>
        </p:nvSpPr>
        <p:spPr>
          <a:xfrm>
            <a:off x="2885440" y="6343708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lang="it-IT" sz="1800" dirty="0">
                <a:solidFill>
                  <a:schemeClr val="bg1"/>
                </a:solidFill>
              </a:rPr>
              <a:t>Pesi delle componenti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F057AC6F-473C-5390-3083-1DEF36558C2A}"/>
              </a:ext>
            </a:extLst>
          </p:cNvPr>
          <p:cNvSpPr txBox="1"/>
          <p:nvPr/>
        </p:nvSpPr>
        <p:spPr>
          <a:xfrm>
            <a:off x="261620" y="1887438"/>
            <a:ext cx="404368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IN_OUT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C_SHAPE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TRANS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Track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5721053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/>
              <a:t>Clustering: 13 Cluster </a:t>
            </a:r>
            <a:r>
              <a:rPr sz="3200" dirty="0" err="1"/>
              <a:t>Identificati</a:t>
            </a:r>
            <a:endParaRPr sz="3200" dirty="0"/>
          </a:p>
        </p:txBody>
      </p:sp>
      <p:pic>
        <p:nvPicPr>
          <p:cNvPr id="4" name="Picture 3" descr="C1_C2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8090" y="6400801"/>
            <a:ext cx="229582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</a:rPr>
              <a:t>Modello</a:t>
            </a:r>
            <a:r>
              <a:rPr sz="1400" dirty="0">
                <a:solidFill>
                  <a:schemeClr val="bg1"/>
                </a:solidFill>
              </a:rPr>
              <a:t> VII - BIC = -7108.435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521931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Clustering: Visualizzazione 3D</a:t>
            </a:r>
          </a:p>
        </p:txBody>
      </p:sp>
      <p:pic>
        <p:nvPicPr>
          <p:cNvPr id="4" name="Picture 3" descr="newplo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424" y="100584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19717" y="6400801"/>
            <a:ext cx="235256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IN_OUT vs C_SHAPE vs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58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661687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Distribuzione Cluster per Gran Premio</a:t>
            </a:r>
          </a:p>
        </p:txBody>
      </p:sp>
      <p:pic>
        <p:nvPicPr>
          <p:cNvPr id="4" name="Picture 3" descr="C_SHAPE__IN_OUT__GP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flipV="1">
            <a:off x="0" y="6655370"/>
            <a:ext cx="12192000" cy="210531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357F8-C835-DA9A-A55F-0C544BB6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FFA3D9-4F7A-43F3-AAB4-885C62677F9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45529E-AB98-838A-6794-EAFDB1FA1AA8}"/>
              </a:ext>
            </a:extLst>
          </p:cNvPr>
          <p:cNvSpPr txBox="1"/>
          <p:nvPr/>
        </p:nvSpPr>
        <p:spPr>
          <a:xfrm>
            <a:off x="1981200" y="164813"/>
            <a:ext cx="661687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Distribuzione Cluster per Gran Premio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8C9500-3923-F17A-C932-2A2367976068}"/>
              </a:ext>
            </a:extLst>
          </p:cNvPr>
          <p:cNvSpPr/>
          <p:nvPr/>
        </p:nvSpPr>
        <p:spPr>
          <a:xfrm flipV="1">
            <a:off x="0" y="6655370"/>
            <a:ext cx="12192000" cy="210531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FA61210-1463-EFCF-AA49-B87599C37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643266"/>
              </p:ext>
            </p:extLst>
          </p:nvPr>
        </p:nvGraphicFramePr>
        <p:xfrm>
          <a:off x="495300" y="1079213"/>
          <a:ext cx="10998199" cy="5143782"/>
        </p:xfrm>
        <a:graphic>
          <a:graphicData uri="http://schemas.openxmlformats.org/drawingml/2006/table">
            <a:tbl>
              <a:tblPr/>
              <a:tblGrid>
                <a:gridCol w="1057519">
                  <a:extLst>
                    <a:ext uri="{9D8B030D-6E8A-4147-A177-3AD203B41FA5}">
                      <a16:colId xmlns:a16="http://schemas.microsoft.com/office/drawing/2014/main" val="4006996696"/>
                    </a:ext>
                  </a:extLst>
                </a:gridCol>
                <a:gridCol w="2502796">
                  <a:extLst>
                    <a:ext uri="{9D8B030D-6E8A-4147-A177-3AD203B41FA5}">
                      <a16:colId xmlns:a16="http://schemas.microsoft.com/office/drawing/2014/main" val="3830591499"/>
                    </a:ext>
                  </a:extLst>
                </a:gridCol>
                <a:gridCol w="2714300">
                  <a:extLst>
                    <a:ext uri="{9D8B030D-6E8A-4147-A177-3AD203B41FA5}">
                      <a16:colId xmlns:a16="http://schemas.microsoft.com/office/drawing/2014/main" val="3367839188"/>
                    </a:ext>
                  </a:extLst>
                </a:gridCol>
                <a:gridCol w="2361792">
                  <a:extLst>
                    <a:ext uri="{9D8B030D-6E8A-4147-A177-3AD203B41FA5}">
                      <a16:colId xmlns:a16="http://schemas.microsoft.com/office/drawing/2014/main" val="1814744847"/>
                    </a:ext>
                  </a:extLst>
                </a:gridCol>
                <a:gridCol w="2361792">
                  <a:extLst>
                    <a:ext uri="{9D8B030D-6E8A-4147-A177-3AD203B41FA5}">
                      <a16:colId xmlns:a16="http://schemas.microsoft.com/office/drawing/2014/main" val="3712610544"/>
                    </a:ext>
                  </a:extLst>
                </a:gridCol>
              </a:tblGrid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class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IN_OUT_mean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C_SHAPE_mean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TRACK_mean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199740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13507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-4,65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63305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3291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2894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03071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9661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08188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095470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286651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24196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57360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32867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939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04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670209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Mixture of Experts Models (MEM)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56CDC0-6FD2-E666-BC96-58066C72D638}"/>
              </a:ext>
            </a:extLst>
          </p:cNvPr>
          <p:cNvSpPr txBox="1"/>
          <p:nvPr/>
        </p:nvSpPr>
        <p:spPr>
          <a:xfrm>
            <a:off x="2821253" y="2442117"/>
            <a:ext cx="206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Ridurre effetto pista</a:t>
            </a:r>
          </a:p>
          <a:p>
            <a:endParaRPr lang="it-IT" dirty="0"/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5E3EBE3C-ED94-62F1-B288-5C507E6EA1D4}"/>
              </a:ext>
            </a:extLst>
          </p:cNvPr>
          <p:cNvSpPr/>
          <p:nvPr/>
        </p:nvSpPr>
        <p:spPr>
          <a:xfrm>
            <a:off x="5229916" y="2442117"/>
            <a:ext cx="1683834" cy="369332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B5479E-593B-B164-5EED-DF8EF25B268A}"/>
              </a:ext>
            </a:extLst>
          </p:cNvPr>
          <p:cNvSpPr txBox="1"/>
          <p:nvPr/>
        </p:nvSpPr>
        <p:spPr>
          <a:xfrm>
            <a:off x="7260182" y="2441406"/>
            <a:ext cx="55904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IN_OUT, C_SHAPE, TRANS ~ TRACK</a:t>
            </a:r>
          </a:p>
          <a:p>
            <a:endParaRPr lang="it-IT" dirty="0"/>
          </a:p>
        </p:txBody>
      </p:sp>
      <p:sp>
        <p:nvSpPr>
          <p:cNvPr id="10" name="Freccia angolare in su 9">
            <a:extLst>
              <a:ext uri="{FF2B5EF4-FFF2-40B4-BE49-F238E27FC236}">
                <a16:creationId xmlns:a16="http://schemas.microsoft.com/office/drawing/2014/main" id="{F23AA822-4952-FC52-D91E-2289459C8921}"/>
              </a:ext>
            </a:extLst>
          </p:cNvPr>
          <p:cNvSpPr/>
          <p:nvPr/>
        </p:nvSpPr>
        <p:spPr>
          <a:xfrm rot="16200000" flipH="1">
            <a:off x="7636090" y="2842903"/>
            <a:ext cx="747132" cy="1215483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Freccia angolare in su 10">
            <a:extLst>
              <a:ext uri="{FF2B5EF4-FFF2-40B4-BE49-F238E27FC236}">
                <a16:creationId xmlns:a16="http://schemas.microsoft.com/office/drawing/2014/main" id="{03E75B3E-B2AE-8326-EF8C-A170F3183978}"/>
              </a:ext>
            </a:extLst>
          </p:cNvPr>
          <p:cNvSpPr/>
          <p:nvPr/>
        </p:nvSpPr>
        <p:spPr>
          <a:xfrm rot="5400000">
            <a:off x="4054576" y="2862148"/>
            <a:ext cx="747132" cy="1215483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70D474-B865-AA69-0E26-4DDA172B6EB5}"/>
              </a:ext>
            </a:extLst>
          </p:cNvPr>
          <p:cNvSpPr txBox="1"/>
          <p:nvPr/>
        </p:nvSpPr>
        <p:spPr>
          <a:xfrm>
            <a:off x="5475249" y="3484099"/>
            <a:ext cx="1550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Stili di guida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F95FE70-CA7C-4B2B-6F17-3EA5DE5DC556}"/>
              </a:ext>
            </a:extLst>
          </p:cNvPr>
          <p:cNvSpPr txBox="1"/>
          <p:nvPr/>
        </p:nvSpPr>
        <p:spPr>
          <a:xfrm>
            <a:off x="5475249" y="3971620"/>
            <a:ext cx="1382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1. Reattivo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5221714-A2CE-9414-A6A8-09AF4BF16378}"/>
              </a:ext>
            </a:extLst>
          </p:cNvPr>
          <p:cNvSpPr txBox="1"/>
          <p:nvPr/>
        </p:nvSpPr>
        <p:spPr>
          <a:xfrm>
            <a:off x="5475249" y="4337993"/>
            <a:ext cx="2330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2. 'V' estremo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028EFBE-0E09-0C87-2480-DC1780929984}"/>
              </a:ext>
            </a:extLst>
          </p:cNvPr>
          <p:cNvSpPr txBox="1"/>
          <p:nvPr/>
        </p:nvSpPr>
        <p:spPr>
          <a:xfrm>
            <a:off x="5475249" y="4710125"/>
            <a:ext cx="1973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3. Percorrenza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411AB6F-70B3-885B-BFE9-B63CCD41FB4E}"/>
              </a:ext>
            </a:extLst>
          </p:cNvPr>
          <p:cNvSpPr txBox="1"/>
          <p:nvPr/>
        </p:nvSpPr>
        <p:spPr>
          <a:xfrm>
            <a:off x="5475249" y="5073698"/>
            <a:ext cx="1382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4. Fluido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5199437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/>
              <a:t>MEM: </a:t>
            </a:r>
            <a:r>
              <a:rPr sz="3200" dirty="0" err="1"/>
              <a:t>Regressioni</a:t>
            </a:r>
            <a:r>
              <a:rPr sz="3200" dirty="0"/>
              <a:t> per Cluster</a:t>
            </a:r>
          </a:p>
        </p:txBody>
      </p:sp>
      <p:pic>
        <p:nvPicPr>
          <p:cNvPr id="4" name="Picture 3" descr="C1_C4_R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444362" y="6400801"/>
            <a:ext cx="330327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</a:rPr>
              <a:t>Relazione</a:t>
            </a:r>
            <a:r>
              <a:rPr sz="1400" dirty="0">
                <a:solidFill>
                  <a:schemeClr val="bg1"/>
                </a:solidFill>
              </a:rPr>
              <a:t> TRACK vs C_SHAPE per </a:t>
            </a:r>
            <a:r>
              <a:rPr sz="1400" dirty="0" err="1">
                <a:solidFill>
                  <a:schemeClr val="bg1"/>
                </a:solidFill>
              </a:rPr>
              <a:t>i</a:t>
            </a:r>
            <a:r>
              <a:rPr sz="1400" dirty="0">
                <a:solidFill>
                  <a:schemeClr val="bg1"/>
                </a:solidFill>
              </a:rPr>
              <a:t> 4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magine 7" descr="Immagine che contiene testo, diagramma, linea, schermata&#10;&#10;Il contenuto generato dall'IA potrebbe non essere corretto.">
            <a:extLst>
              <a:ext uri="{FF2B5EF4-FFF2-40B4-BE49-F238E27FC236}">
                <a16:creationId xmlns:a16="http://schemas.microsoft.com/office/drawing/2014/main" id="{93E36CF1-F1E1-9F73-AEC2-BCC5BE040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130013"/>
            <a:ext cx="7040880" cy="50926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443544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MEM: Visualizzazione 3D</a:t>
            </a:r>
          </a:p>
        </p:txBody>
      </p:sp>
      <p:pic>
        <p:nvPicPr>
          <p:cNvPr id="4" name="Picture 3" descr="newplot2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18872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43612" y="6400801"/>
            <a:ext cx="410477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IN_OUT vs C_SHAPE vs TRACK con </a:t>
            </a:r>
            <a:r>
              <a:rPr sz="1400" dirty="0" err="1">
                <a:solidFill>
                  <a:schemeClr val="bg1"/>
                </a:solidFill>
              </a:rPr>
              <a:t>piani</a:t>
            </a:r>
            <a:r>
              <a:rPr sz="1400" dirty="0">
                <a:solidFill>
                  <a:schemeClr val="bg1"/>
                </a:solidFill>
              </a:rPr>
              <a:t> di </a:t>
            </a:r>
            <a:r>
              <a:rPr sz="1400" dirty="0" err="1">
                <a:solidFill>
                  <a:schemeClr val="bg1"/>
                </a:solidFill>
              </a:rPr>
              <a:t>regressione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4783617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Stili di Guida Identificati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4080" y="2074123"/>
            <a:ext cx="78638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Esempi</a:t>
            </a:r>
            <a:r>
              <a:rPr sz="2000" dirty="0">
                <a:solidFill>
                  <a:schemeClr val="bg1"/>
                </a:solidFill>
              </a:rPr>
              <a:t> di </a:t>
            </a:r>
            <a:r>
              <a:rPr sz="2000" dirty="0" err="1">
                <a:solidFill>
                  <a:schemeClr val="bg1"/>
                </a:solidFill>
              </a:rPr>
              <a:t>piloti</a:t>
            </a:r>
            <a:r>
              <a:rPr sz="2000" dirty="0">
                <a:solidFill>
                  <a:schemeClr val="bg1"/>
                </a:solidFill>
              </a:rPr>
              <a:t> per cluster</a:t>
            </a:r>
            <a:r>
              <a:rPr lang="it-IT" sz="2000" dirty="0">
                <a:solidFill>
                  <a:schemeClr val="bg1"/>
                </a:solidFill>
              </a:rPr>
              <a:t>: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</a:rPr>
              <a:t>Cluster 2: Verstappen, Leclerc (guida a ‘V’)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</a:rPr>
              <a:t>Cluster 4: Norris, Russell (guida fluida)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Risultati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coerenti</a:t>
            </a:r>
            <a:r>
              <a:rPr sz="2000" dirty="0">
                <a:solidFill>
                  <a:schemeClr val="bg1"/>
                </a:solidFill>
              </a:rPr>
              <a:t> con </a:t>
            </a:r>
            <a:r>
              <a:rPr sz="2000" dirty="0" err="1">
                <a:solidFill>
                  <a:schemeClr val="bg1"/>
                </a:solidFill>
              </a:rPr>
              <a:t>osservazioni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reali</a:t>
            </a:r>
            <a:r>
              <a:rPr sz="2000" dirty="0">
                <a:solidFill>
                  <a:schemeClr val="bg1"/>
                </a:solidFill>
              </a:rPr>
              <a:t> F1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Limitazione</a:t>
            </a:r>
            <a:r>
              <a:rPr sz="2000" dirty="0">
                <a:solidFill>
                  <a:schemeClr val="bg1"/>
                </a:solidFill>
              </a:rPr>
              <a:t>: </a:t>
            </a:r>
            <a:r>
              <a:rPr sz="2000" dirty="0" err="1">
                <a:solidFill>
                  <a:schemeClr val="bg1"/>
                </a:solidFill>
              </a:rPr>
              <a:t>dipendenza</a:t>
            </a:r>
            <a:r>
              <a:rPr sz="2000" dirty="0">
                <a:solidFill>
                  <a:schemeClr val="bg1"/>
                </a:solidFill>
              </a:rPr>
              <a:t> da </a:t>
            </a:r>
            <a:r>
              <a:rPr sz="2000" dirty="0" err="1">
                <a:solidFill>
                  <a:schemeClr val="bg1"/>
                </a:solidFill>
              </a:rPr>
              <a:t>geometria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tracciato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5599225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Conclusioni e Sviluppi Futuri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8892" y="1529644"/>
            <a:ext cx="8780529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</a:rPr>
              <a:t>Pattern </a:t>
            </a:r>
            <a:r>
              <a:rPr sz="2000" dirty="0" err="1">
                <a:solidFill>
                  <a:schemeClr val="bg1"/>
                </a:solidFill>
              </a:rPr>
              <a:t>identificati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nei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dati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telemetrici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</a:rPr>
              <a:t>PCA </a:t>
            </a:r>
            <a:r>
              <a:rPr sz="2000" dirty="0" err="1">
                <a:solidFill>
                  <a:schemeClr val="bg1"/>
                </a:solidFill>
              </a:rPr>
              <a:t>efficace</a:t>
            </a:r>
            <a:r>
              <a:rPr sz="2000" dirty="0">
                <a:solidFill>
                  <a:schemeClr val="bg1"/>
                </a:solidFill>
              </a:rPr>
              <a:t> per </a:t>
            </a:r>
            <a:r>
              <a:rPr sz="2000" dirty="0" err="1">
                <a:solidFill>
                  <a:schemeClr val="bg1"/>
                </a:solidFill>
              </a:rPr>
              <a:t>riduzione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dimensionalità</a:t>
            </a:r>
            <a:r>
              <a:rPr lang="it-IT" sz="2000" dirty="0">
                <a:solidFill>
                  <a:schemeClr val="bg1"/>
                </a:solidFill>
              </a:rPr>
              <a:t>: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</a:rPr>
              <a:t>MEM utile per </a:t>
            </a:r>
            <a:r>
              <a:rPr sz="2000" dirty="0" err="1">
                <a:solidFill>
                  <a:schemeClr val="bg1"/>
                </a:solidFill>
              </a:rPr>
              <a:t>controllare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effetto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pista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  <a:endParaRPr sz="2000" dirty="0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Sviluppi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futuri</a:t>
            </a:r>
            <a:r>
              <a:rPr sz="2000" dirty="0">
                <a:solidFill>
                  <a:schemeClr val="bg1"/>
                </a:solidFill>
              </a:rPr>
              <a:t>:</a:t>
            </a:r>
            <a:endParaRPr lang="it-IT" sz="20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Variabili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aggiuntive</a:t>
            </a:r>
            <a:r>
              <a:rPr sz="2000" dirty="0">
                <a:solidFill>
                  <a:schemeClr val="bg1"/>
                </a:solidFill>
              </a:rPr>
              <a:t> (</a:t>
            </a:r>
            <a:r>
              <a:rPr sz="2000" dirty="0" err="1">
                <a:solidFill>
                  <a:schemeClr val="bg1"/>
                </a:solidFill>
              </a:rPr>
              <a:t>punti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staccata</a:t>
            </a:r>
            <a:r>
              <a:rPr sz="2000" dirty="0">
                <a:solidFill>
                  <a:schemeClr val="bg1"/>
                </a:solidFill>
              </a:rPr>
              <a:t>, </a:t>
            </a:r>
            <a:r>
              <a:rPr sz="2000" dirty="0" err="1">
                <a:solidFill>
                  <a:schemeClr val="bg1"/>
                </a:solidFill>
              </a:rPr>
              <a:t>angolo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sterzo</a:t>
            </a:r>
            <a:r>
              <a:rPr sz="2000" dirty="0">
                <a:solidFill>
                  <a:schemeClr val="bg1"/>
                </a:solidFill>
              </a:rPr>
              <a:t>)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Analisi</a:t>
            </a:r>
            <a:r>
              <a:rPr sz="2000" dirty="0">
                <a:solidFill>
                  <a:schemeClr val="bg1"/>
                </a:solidFill>
              </a:rPr>
              <a:t> multi-</a:t>
            </a:r>
            <a:r>
              <a:rPr sz="2000" dirty="0" err="1">
                <a:solidFill>
                  <a:schemeClr val="bg1"/>
                </a:solidFill>
              </a:rPr>
              <a:t>stagione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Validazione</a:t>
            </a:r>
            <a:r>
              <a:rPr sz="2000" dirty="0">
                <a:solidFill>
                  <a:schemeClr val="bg1"/>
                </a:solidFill>
              </a:rPr>
              <a:t> con </a:t>
            </a:r>
            <a:r>
              <a:rPr sz="2000" dirty="0" err="1">
                <a:solidFill>
                  <a:schemeClr val="bg1"/>
                </a:solidFill>
              </a:rPr>
              <a:t>esperti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77071" y="2692569"/>
            <a:ext cx="7637861" cy="101566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sz="6000"/>
              <a:t>Grazie per l'attenzione!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3845</Words>
  <Application>Microsoft Office PowerPoint</Application>
  <PresentationFormat>Widescreen</PresentationFormat>
  <Paragraphs>883</Paragraphs>
  <Slides>21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9" baseType="lpstr">
      <vt:lpstr>Aptos</vt:lpstr>
      <vt:lpstr>Aptos Narrow</vt:lpstr>
      <vt:lpstr>Arial</vt:lpstr>
      <vt:lpstr>Calibri</vt:lpstr>
      <vt:lpstr>Formula1 Display Bold</vt:lpstr>
      <vt:lpstr>Formula1 Display-Bold</vt:lpstr>
      <vt:lpstr>Formula1 Display-Regular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f.maccianti@campus.unimib.it</cp:lastModifiedBy>
  <cp:revision>12</cp:revision>
  <dcterms:created xsi:type="dcterms:W3CDTF">2013-01-27T09:14:16Z</dcterms:created>
  <dcterms:modified xsi:type="dcterms:W3CDTF">2026-01-13T14:02:45Z</dcterms:modified>
  <cp:category/>
</cp:coreProperties>
</file>