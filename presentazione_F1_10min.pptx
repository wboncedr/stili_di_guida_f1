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1" r:id="rId5"/>
    <p:sldId id="259" r:id="rId6"/>
    <p:sldId id="273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89" autoAdjust="0"/>
  </p:normalViewPr>
  <p:slideViewPr>
    <p:cSldViewPr snapToGrid="0" snapToObjects="1">
      <p:cViewPr varScale="1">
        <p:scale>
          <a:sx n="69" d="100"/>
          <a:sy n="69" d="100"/>
        </p:scale>
        <p:origin x="1205" y="2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69F74-5B56-4D9C-A3CE-9CD19CA2C1BC}" type="datetimeFigureOut">
              <a:rPr lang="it-IT" smtClean="0"/>
              <a:t>12/01/2026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BB07F-30ED-420F-8579-BA5526A52A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77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B07F-30ED-420F-8579-BA5526A52A4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163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Obiettivo principale: identificare pattern distintivi negli stili di guida dei piloti di Formula 1.</a:t>
            </a:r>
          </a:p>
          <a:p>
            <a:endParaRPr/>
          </a:p>
          <a:p>
            <a:r>
              <a:t>Dataset:</a:t>
            </a:r>
          </a:p>
          <a:p>
            <a:r>
              <a:t>- Telemetrie complete delle sessioni di qualifica della stagione 2025</a:t>
            </a:r>
          </a:p>
          <a:p>
            <a:r>
              <a:t>- Miglior giro per ciascun pilota in ogni Gran Premio (24 GP totali)</a:t>
            </a:r>
          </a:p>
          <a:p>
            <a:r>
              <a:t>- Variabili: velocità, accelerazioni longitudinali/laterali, throttle, freno, RPM, marcia, DRS</a:t>
            </a:r>
          </a:p>
          <a:p>
            <a:endParaRPr/>
          </a:p>
          <a:p>
            <a:r>
              <a:t>Metodologia:</a:t>
            </a:r>
          </a:p>
          <a:p>
            <a:r>
              <a:t>- Approccio statistico: Model-Based Clustering</a:t>
            </a:r>
          </a:p>
          <a:p>
            <a:r>
              <a:t>- Riduzione dimensionalità tramite PCA</a:t>
            </a:r>
          </a:p>
          <a:p>
            <a:r>
              <a:t>- Mixture of Experts Models per controllare l'effetto pista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grafico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le </a:t>
            </a:r>
            <a:r>
              <a:rPr dirty="0" err="1"/>
              <a:t>differenze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telemetrie</a:t>
            </a:r>
            <a:r>
              <a:rPr dirty="0"/>
              <a:t> di 4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il Gran Premio degli USA.</a:t>
            </a:r>
          </a:p>
          <a:p>
            <a:endParaRPr dirty="0"/>
          </a:p>
          <a:p>
            <a:r>
              <a:rPr dirty="0" err="1"/>
              <a:t>Osservazioni</a:t>
            </a:r>
            <a:r>
              <a:rPr dirty="0"/>
              <a:t> </a:t>
            </a:r>
            <a:r>
              <a:rPr dirty="0" err="1"/>
              <a:t>chiave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laterale</a:t>
            </a:r>
            <a:r>
              <a:rPr dirty="0"/>
              <a:t>: </a:t>
            </a:r>
            <a:r>
              <a:rPr dirty="0" err="1"/>
              <a:t>mostra</a:t>
            </a:r>
            <a:r>
              <a:rPr dirty="0"/>
              <a:t> come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affrontano</a:t>
            </a:r>
            <a:r>
              <a:rPr dirty="0"/>
              <a:t> le curve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longitudinale</a:t>
            </a:r>
            <a:r>
              <a:rPr dirty="0"/>
              <a:t>: </a:t>
            </a:r>
            <a:r>
              <a:rPr dirty="0" err="1"/>
              <a:t>evidenzia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in </a:t>
            </a:r>
            <a:r>
              <a:rPr dirty="0" err="1"/>
              <a:t>frenata</a:t>
            </a:r>
            <a:r>
              <a:rPr dirty="0"/>
              <a:t> e </a:t>
            </a:r>
            <a:r>
              <a:rPr dirty="0" err="1"/>
              <a:t>accelerazione</a:t>
            </a:r>
            <a:endParaRPr dirty="0"/>
          </a:p>
          <a:p>
            <a:r>
              <a:rPr dirty="0"/>
              <a:t>- </a:t>
            </a:r>
            <a:r>
              <a:rPr dirty="0" err="1"/>
              <a:t>Velocità</a:t>
            </a:r>
            <a:r>
              <a:rPr dirty="0"/>
              <a:t>: pattern di </a:t>
            </a:r>
            <a:r>
              <a:rPr dirty="0" err="1"/>
              <a:t>gestione</a:t>
            </a:r>
            <a:r>
              <a:rPr dirty="0"/>
              <a:t> della </a:t>
            </a:r>
            <a:r>
              <a:rPr dirty="0" err="1"/>
              <a:t>velocità</a:t>
            </a:r>
            <a:r>
              <a:rPr dirty="0"/>
              <a:t> </a:t>
            </a:r>
            <a:r>
              <a:rPr dirty="0" err="1"/>
              <a:t>lungo</a:t>
            </a:r>
            <a:r>
              <a:rPr dirty="0"/>
              <a:t> il </a:t>
            </a:r>
            <a:r>
              <a:rPr dirty="0" err="1"/>
              <a:t>giro</a:t>
            </a:r>
            <a:endParaRPr dirty="0"/>
          </a:p>
          <a:p>
            <a:r>
              <a:rPr dirty="0"/>
              <a:t>- Throttle: </a:t>
            </a:r>
            <a:r>
              <a:rPr dirty="0" err="1"/>
              <a:t>modulazione</a:t>
            </a:r>
            <a:r>
              <a:rPr dirty="0"/>
              <a:t> </a:t>
            </a:r>
            <a:r>
              <a:rPr dirty="0" err="1"/>
              <a:t>dell'acceleratore</a:t>
            </a:r>
            <a:endParaRPr dirty="0"/>
          </a:p>
          <a:p>
            <a:endParaRPr dirty="0"/>
          </a:p>
          <a:p>
            <a:r>
              <a:rPr dirty="0" err="1"/>
              <a:t>Già</a:t>
            </a:r>
            <a:r>
              <a:rPr dirty="0"/>
              <a:t> da </a:t>
            </a:r>
            <a:r>
              <a:rPr dirty="0" err="1"/>
              <a:t>questa</a:t>
            </a:r>
            <a:r>
              <a:rPr dirty="0"/>
              <a:t> </a:t>
            </a:r>
            <a:r>
              <a:rPr dirty="0" err="1"/>
              <a:t>visualizzazione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notano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significative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repentine</a:t>
            </a:r>
            <a:r>
              <a:rPr dirty="0"/>
              <a:t>,</a:t>
            </a:r>
          </a:p>
          <a:p>
            <a:r>
              <a:rPr dirty="0" err="1"/>
              <a:t>suggerendo</a:t>
            </a:r>
            <a:r>
              <a:rPr dirty="0"/>
              <a:t> </a:t>
            </a:r>
            <a:r>
              <a:rPr dirty="0" err="1"/>
              <a:t>l'esistenza</a:t>
            </a:r>
            <a:r>
              <a:rPr dirty="0"/>
              <a:t> di </a:t>
            </a:r>
            <a:r>
              <a:rPr dirty="0" err="1"/>
              <a:t>stili</a:t>
            </a:r>
            <a:r>
              <a:rPr dirty="0"/>
              <a:t> di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distinti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995A-DB22-D534-AF0C-D1C4129C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2ACED-7E9F-E384-A4AE-23E2BADD6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C4896-756F-614B-BACF-D4F4BC26F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grafico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le </a:t>
            </a:r>
            <a:r>
              <a:rPr dirty="0" err="1"/>
              <a:t>differenze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telemetrie</a:t>
            </a:r>
            <a:r>
              <a:rPr dirty="0"/>
              <a:t> di 4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il Gran Premio degli USA.</a:t>
            </a:r>
          </a:p>
          <a:p>
            <a:endParaRPr dirty="0"/>
          </a:p>
          <a:p>
            <a:r>
              <a:rPr dirty="0" err="1"/>
              <a:t>Osservazioni</a:t>
            </a:r>
            <a:r>
              <a:rPr dirty="0"/>
              <a:t> </a:t>
            </a:r>
            <a:r>
              <a:rPr dirty="0" err="1"/>
              <a:t>chiave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laterale</a:t>
            </a:r>
            <a:r>
              <a:rPr dirty="0"/>
              <a:t>: </a:t>
            </a:r>
            <a:r>
              <a:rPr dirty="0" err="1"/>
              <a:t>mostra</a:t>
            </a:r>
            <a:r>
              <a:rPr dirty="0"/>
              <a:t> come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affrontano</a:t>
            </a:r>
            <a:r>
              <a:rPr dirty="0"/>
              <a:t> le curve</a:t>
            </a:r>
          </a:p>
          <a:p>
            <a:r>
              <a:rPr dirty="0"/>
              <a:t>- </a:t>
            </a:r>
            <a:r>
              <a:rPr dirty="0" err="1"/>
              <a:t>Accelerazione</a:t>
            </a:r>
            <a:r>
              <a:rPr dirty="0"/>
              <a:t> </a:t>
            </a:r>
            <a:r>
              <a:rPr dirty="0" err="1"/>
              <a:t>longitudinale</a:t>
            </a:r>
            <a:r>
              <a:rPr dirty="0"/>
              <a:t>: </a:t>
            </a:r>
            <a:r>
              <a:rPr dirty="0" err="1"/>
              <a:t>evidenzia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in </a:t>
            </a:r>
            <a:r>
              <a:rPr dirty="0" err="1"/>
              <a:t>frenata</a:t>
            </a:r>
            <a:r>
              <a:rPr dirty="0"/>
              <a:t> e </a:t>
            </a:r>
            <a:r>
              <a:rPr dirty="0" err="1"/>
              <a:t>accelerazione</a:t>
            </a:r>
            <a:endParaRPr dirty="0"/>
          </a:p>
          <a:p>
            <a:r>
              <a:rPr dirty="0"/>
              <a:t>- </a:t>
            </a:r>
            <a:r>
              <a:rPr dirty="0" err="1"/>
              <a:t>Velocità</a:t>
            </a:r>
            <a:r>
              <a:rPr dirty="0"/>
              <a:t>: pattern di </a:t>
            </a:r>
            <a:r>
              <a:rPr dirty="0" err="1"/>
              <a:t>gestione</a:t>
            </a:r>
            <a:r>
              <a:rPr dirty="0"/>
              <a:t> della </a:t>
            </a:r>
            <a:r>
              <a:rPr dirty="0" err="1"/>
              <a:t>velocità</a:t>
            </a:r>
            <a:r>
              <a:rPr dirty="0"/>
              <a:t> </a:t>
            </a:r>
            <a:r>
              <a:rPr dirty="0" err="1"/>
              <a:t>lungo</a:t>
            </a:r>
            <a:r>
              <a:rPr dirty="0"/>
              <a:t> il </a:t>
            </a:r>
            <a:r>
              <a:rPr dirty="0" err="1"/>
              <a:t>giro</a:t>
            </a:r>
            <a:endParaRPr dirty="0"/>
          </a:p>
          <a:p>
            <a:r>
              <a:rPr dirty="0"/>
              <a:t>- Throttle: </a:t>
            </a:r>
            <a:r>
              <a:rPr dirty="0" err="1"/>
              <a:t>modulazione</a:t>
            </a:r>
            <a:r>
              <a:rPr dirty="0"/>
              <a:t> </a:t>
            </a:r>
            <a:r>
              <a:rPr dirty="0" err="1"/>
              <a:t>dell'acceleratore</a:t>
            </a:r>
            <a:endParaRPr dirty="0"/>
          </a:p>
          <a:p>
            <a:endParaRPr dirty="0"/>
          </a:p>
          <a:p>
            <a:r>
              <a:rPr dirty="0" err="1"/>
              <a:t>Già</a:t>
            </a:r>
            <a:r>
              <a:rPr dirty="0"/>
              <a:t> da </a:t>
            </a:r>
            <a:r>
              <a:rPr dirty="0" err="1"/>
              <a:t>questa</a:t>
            </a:r>
            <a:r>
              <a:rPr dirty="0"/>
              <a:t> </a:t>
            </a:r>
            <a:r>
              <a:rPr dirty="0" err="1"/>
              <a:t>visualizzazione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notano</a:t>
            </a:r>
            <a:r>
              <a:rPr dirty="0"/>
              <a:t> </a:t>
            </a:r>
            <a:r>
              <a:rPr dirty="0" err="1"/>
              <a:t>differenze</a:t>
            </a:r>
            <a:r>
              <a:rPr dirty="0"/>
              <a:t> significative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piloti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repentine</a:t>
            </a:r>
            <a:r>
              <a:rPr dirty="0"/>
              <a:t>,</a:t>
            </a:r>
          </a:p>
          <a:p>
            <a:r>
              <a:rPr dirty="0" err="1"/>
              <a:t>suggerendo</a:t>
            </a:r>
            <a:r>
              <a:rPr dirty="0"/>
              <a:t> </a:t>
            </a:r>
            <a:r>
              <a:rPr dirty="0" err="1"/>
              <a:t>l'esistenza</a:t>
            </a:r>
            <a:r>
              <a:rPr dirty="0"/>
              <a:t> di </a:t>
            </a:r>
            <a:r>
              <a:rPr dirty="0" err="1"/>
              <a:t>stili</a:t>
            </a:r>
            <a:r>
              <a:rPr dirty="0"/>
              <a:t> di </a:t>
            </a:r>
            <a:r>
              <a:rPr dirty="0" err="1"/>
              <a:t>guida</a:t>
            </a:r>
            <a:r>
              <a:rPr dirty="0"/>
              <a:t> </a:t>
            </a:r>
            <a:r>
              <a:rPr dirty="0" err="1"/>
              <a:t>distinti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BACE-7421-3C8B-562F-301123B79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2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CFD8-4B7E-194A-3269-174FE01A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37286-D713-5427-7BD2-10932D4BA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968E6-A18C-B600-F28B-C58690162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7EC0A-513B-A2C8-7EE4-6942D7E08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13275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6735-8629-E4E0-64CF-F5AAC9C4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8B6D2-BC4C-345D-2FA2-A10A7789F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E5E85-6010-A044-3030-9EC5964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Pre-processing </a:t>
            </a:r>
            <a:r>
              <a:rPr dirty="0" err="1"/>
              <a:t>dettagliato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1. </a:t>
            </a:r>
            <a:r>
              <a:rPr dirty="0" err="1"/>
              <a:t>Pulizia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Rimossi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di Russell (Miami GP) per </a:t>
            </a:r>
            <a:r>
              <a:rPr dirty="0" err="1"/>
              <a:t>malfunzionamento</a:t>
            </a:r>
            <a:r>
              <a:rPr dirty="0"/>
              <a:t> </a:t>
            </a:r>
            <a:r>
              <a:rPr dirty="0" err="1"/>
              <a:t>sensori</a:t>
            </a:r>
            <a:endParaRPr dirty="0"/>
          </a:p>
          <a:p>
            <a:r>
              <a:rPr dirty="0"/>
              <a:t>   - </a:t>
            </a:r>
            <a:r>
              <a:rPr dirty="0" err="1"/>
              <a:t>Eliminati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incompleti</a:t>
            </a:r>
            <a:r>
              <a:rPr dirty="0"/>
              <a:t> (Tsunoda, Bearman, Hadjar)</a:t>
            </a:r>
          </a:p>
          <a:p>
            <a:r>
              <a:rPr dirty="0"/>
              <a:t>   - </a:t>
            </a:r>
            <a:r>
              <a:rPr dirty="0" err="1"/>
              <a:t>Applicata</a:t>
            </a:r>
            <a:r>
              <a:rPr dirty="0"/>
              <a:t> </a:t>
            </a:r>
            <a:r>
              <a:rPr dirty="0" err="1"/>
              <a:t>regola</a:t>
            </a:r>
            <a:r>
              <a:rPr dirty="0"/>
              <a:t> FIA 107%: </a:t>
            </a:r>
            <a:r>
              <a:rPr dirty="0" err="1"/>
              <a:t>esclusi</a:t>
            </a:r>
            <a:r>
              <a:rPr dirty="0"/>
              <a:t> </a:t>
            </a:r>
            <a:r>
              <a:rPr dirty="0" err="1"/>
              <a:t>giri</a:t>
            </a:r>
            <a:r>
              <a:rPr dirty="0"/>
              <a:t> </a:t>
            </a:r>
            <a:r>
              <a:rPr dirty="0" err="1"/>
              <a:t>oltre</a:t>
            </a:r>
            <a:r>
              <a:rPr dirty="0"/>
              <a:t> il 107% del tempo </a:t>
            </a:r>
            <a:r>
              <a:rPr dirty="0" err="1"/>
              <a:t>minimo</a:t>
            </a:r>
            <a:endParaRPr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:</a:t>
            </a:r>
          </a:p>
          <a:p>
            <a:r>
              <a:rPr dirty="0"/>
              <a:t>   - </a:t>
            </a:r>
            <a:r>
              <a:rPr dirty="0" err="1"/>
              <a:t>acc_x</a:t>
            </a:r>
            <a:r>
              <a:rPr dirty="0"/>
              <a:t> separata in </a:t>
            </a:r>
            <a:r>
              <a:rPr dirty="0" err="1"/>
              <a:t>accelerazione</a:t>
            </a:r>
            <a:r>
              <a:rPr dirty="0"/>
              <a:t> (</a:t>
            </a:r>
            <a:r>
              <a:rPr dirty="0" err="1"/>
              <a:t>positiva</a:t>
            </a:r>
            <a:r>
              <a:rPr dirty="0"/>
              <a:t>) e </a:t>
            </a:r>
            <a:r>
              <a:rPr dirty="0" err="1"/>
              <a:t>decelerazione</a:t>
            </a:r>
            <a:r>
              <a:rPr dirty="0"/>
              <a:t> (</a:t>
            </a:r>
            <a:r>
              <a:rPr dirty="0" err="1"/>
              <a:t>negativa</a:t>
            </a:r>
            <a:r>
              <a:rPr dirty="0"/>
              <a:t> in modulo)</a:t>
            </a:r>
          </a:p>
          <a:p>
            <a:r>
              <a:rPr dirty="0"/>
              <a:t>   - </a:t>
            </a:r>
            <a:r>
              <a:rPr dirty="0" err="1"/>
              <a:t>acc_y</a:t>
            </a:r>
            <a:r>
              <a:rPr dirty="0"/>
              <a:t> </a:t>
            </a:r>
            <a:r>
              <a:rPr dirty="0" err="1"/>
              <a:t>trasformata</a:t>
            </a:r>
            <a:r>
              <a:rPr dirty="0"/>
              <a:t> in 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assoluto</a:t>
            </a:r>
            <a:r>
              <a:rPr dirty="0"/>
              <a:t>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intensità</a:t>
            </a:r>
            <a:r>
              <a:rPr dirty="0"/>
              <a:t> </a:t>
            </a:r>
            <a:r>
              <a:rPr dirty="0" err="1"/>
              <a:t>forze</a:t>
            </a:r>
            <a:r>
              <a:rPr dirty="0"/>
              <a:t> </a:t>
            </a:r>
            <a:r>
              <a:rPr dirty="0" err="1"/>
              <a:t>laterali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analizzare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le </a:t>
            </a:r>
            <a:r>
              <a:rPr dirty="0" err="1"/>
              <a:t>fasi</a:t>
            </a:r>
            <a:r>
              <a:rPr dirty="0"/>
              <a:t> di </a:t>
            </a:r>
            <a:r>
              <a:rPr dirty="0" err="1"/>
              <a:t>accelerazione</a:t>
            </a:r>
            <a:r>
              <a:rPr dirty="0"/>
              <a:t> e </a:t>
            </a:r>
            <a:r>
              <a:rPr dirty="0" err="1"/>
              <a:t>frenata</a:t>
            </a:r>
            <a:endParaRPr dirty="0"/>
          </a:p>
          <a:p>
            <a:endParaRPr dirty="0"/>
          </a:p>
          <a:p>
            <a:r>
              <a:rPr dirty="0"/>
              <a:t>3. Feature Engineering:</a:t>
            </a:r>
          </a:p>
          <a:p>
            <a:r>
              <a:rPr dirty="0"/>
              <a:t>   - </a:t>
            </a:r>
            <a:r>
              <a:rPr dirty="0" err="1"/>
              <a:t>Creazione</a:t>
            </a:r>
            <a:r>
              <a:rPr dirty="0"/>
              <a:t> </a:t>
            </a:r>
            <a:r>
              <a:rPr dirty="0" err="1"/>
              <a:t>variabili</a:t>
            </a:r>
            <a:r>
              <a:rPr dirty="0"/>
              <a:t> lag (lag1, lag5) per </a:t>
            </a:r>
            <a:r>
              <a:rPr dirty="0" err="1"/>
              <a:t>catturare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temporali</a:t>
            </a:r>
            <a:endParaRPr dirty="0"/>
          </a:p>
          <a:p>
            <a:r>
              <a:rPr dirty="0"/>
              <a:t>   - </a:t>
            </a:r>
            <a:r>
              <a:rPr dirty="0" err="1"/>
              <a:t>Calcolo</a:t>
            </a:r>
            <a:r>
              <a:rPr dirty="0"/>
              <a:t> </a:t>
            </a:r>
            <a:r>
              <a:rPr dirty="0" err="1"/>
              <a:t>statistiche</a:t>
            </a:r>
            <a:r>
              <a:rPr dirty="0"/>
              <a:t>: media e </a:t>
            </a:r>
            <a:r>
              <a:rPr dirty="0" err="1"/>
              <a:t>deviazione</a:t>
            </a:r>
            <a:r>
              <a:rPr dirty="0"/>
              <a:t> standard per GP e </a:t>
            </a:r>
            <a:r>
              <a:rPr dirty="0" err="1"/>
              <a:t>pilota</a:t>
            </a:r>
            <a:endParaRPr dirty="0"/>
          </a:p>
          <a:p>
            <a:r>
              <a:rPr dirty="0"/>
              <a:t>   - </a:t>
            </a:r>
            <a:r>
              <a:rPr dirty="0" err="1"/>
              <a:t>Coefficienti</a:t>
            </a:r>
            <a:r>
              <a:rPr dirty="0"/>
              <a:t> di </a:t>
            </a:r>
            <a:r>
              <a:rPr dirty="0" err="1"/>
              <a:t>Variazione</a:t>
            </a:r>
            <a:r>
              <a:rPr dirty="0"/>
              <a:t> (CV) per </a:t>
            </a:r>
            <a:r>
              <a:rPr dirty="0" err="1"/>
              <a:t>normalizzare</a:t>
            </a:r>
            <a:r>
              <a:rPr dirty="0"/>
              <a:t> rispetto al setup vettura</a:t>
            </a:r>
          </a:p>
          <a:p>
            <a:r>
              <a:rPr dirty="0"/>
              <a:t>   - </a:t>
            </a:r>
            <a:r>
              <a:rPr dirty="0" err="1"/>
              <a:t>Riscalamento</a:t>
            </a:r>
            <a:r>
              <a:rPr dirty="0"/>
              <a:t> [0,1] per </a:t>
            </a:r>
            <a:r>
              <a:rPr dirty="0" err="1"/>
              <a:t>confrontare</a:t>
            </a:r>
            <a:r>
              <a:rPr dirty="0"/>
              <a:t> </a:t>
            </a:r>
            <a:r>
              <a:rPr dirty="0" err="1"/>
              <a:t>circuiti</a:t>
            </a:r>
            <a:r>
              <a:rPr dirty="0"/>
              <a:t> </a:t>
            </a:r>
            <a:r>
              <a:rPr dirty="0" err="1"/>
              <a:t>diversi</a:t>
            </a:r>
            <a:endParaRPr dirty="0"/>
          </a:p>
          <a:p>
            <a:r>
              <a:rPr dirty="0"/>
              <a:t>   - </a:t>
            </a:r>
            <a:r>
              <a:rPr dirty="0" err="1"/>
              <a:t>Riduzione</a:t>
            </a:r>
            <a:r>
              <a:rPr dirty="0"/>
              <a:t> da 28 a 26 </a:t>
            </a:r>
            <a:r>
              <a:rPr dirty="0" err="1"/>
              <a:t>variabili</a:t>
            </a:r>
            <a:r>
              <a:rPr dirty="0"/>
              <a:t> (</a:t>
            </a:r>
            <a:r>
              <a:rPr dirty="0" err="1"/>
              <a:t>eliminazione</a:t>
            </a:r>
            <a:r>
              <a:rPr dirty="0"/>
              <a:t> </a:t>
            </a:r>
            <a:r>
              <a:rPr dirty="0" err="1"/>
              <a:t>correlazioni</a:t>
            </a:r>
            <a:r>
              <a:rPr dirty="0"/>
              <a:t> &gt; 0.9)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114A5-4D2C-A471-0586-B08842775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369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Analisi</a:t>
            </a:r>
            <a:r>
              <a:rPr dirty="0"/>
              <a:t> delle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Principali</a:t>
            </a:r>
            <a:r>
              <a:rPr dirty="0"/>
              <a:t> (PCA):</a:t>
            </a:r>
          </a:p>
          <a:p>
            <a:endParaRPr dirty="0"/>
          </a:p>
          <a:p>
            <a:r>
              <a:rPr dirty="0" err="1"/>
              <a:t>Obiettivo</a:t>
            </a:r>
            <a:r>
              <a:rPr dirty="0"/>
              <a:t>: </a:t>
            </a:r>
            <a:r>
              <a:rPr dirty="0" err="1"/>
              <a:t>ridurre</a:t>
            </a:r>
            <a:r>
              <a:rPr dirty="0"/>
              <a:t> la </a:t>
            </a:r>
            <a:r>
              <a:rPr dirty="0" err="1"/>
              <a:t>dimensionalità</a:t>
            </a:r>
            <a:r>
              <a:rPr dirty="0"/>
              <a:t> da 26 </a:t>
            </a:r>
            <a:r>
              <a:rPr dirty="0" err="1"/>
              <a:t>variabili</a:t>
            </a:r>
            <a:r>
              <a:rPr dirty="0"/>
              <a:t> a 4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principali</a:t>
            </a:r>
            <a:r>
              <a:rPr dirty="0"/>
              <a:t> </a:t>
            </a:r>
            <a:r>
              <a:rPr dirty="0" err="1"/>
              <a:t>interpretabili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Risultati</a:t>
            </a:r>
            <a:r>
              <a:rPr dirty="0"/>
              <a:t>:</a:t>
            </a:r>
          </a:p>
          <a:p>
            <a:r>
              <a:rPr dirty="0"/>
              <a:t>- Comp.1: ~25%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Comp.2: ~15%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Comp.3: ~12%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Comp.4: ~10% </a:t>
            </a:r>
            <a:r>
              <a:rPr dirty="0" err="1"/>
              <a:t>varianza</a:t>
            </a:r>
            <a:endParaRPr dirty="0"/>
          </a:p>
          <a:p>
            <a:r>
              <a:rPr dirty="0"/>
              <a:t>- </a:t>
            </a:r>
            <a:r>
              <a:rPr dirty="0" err="1"/>
              <a:t>Totale</a:t>
            </a:r>
            <a:r>
              <a:rPr dirty="0"/>
              <a:t>: &gt;60% </a:t>
            </a:r>
            <a:r>
              <a:rPr dirty="0" err="1"/>
              <a:t>varianza</a:t>
            </a:r>
            <a:r>
              <a:rPr dirty="0"/>
              <a:t> </a:t>
            </a:r>
            <a:r>
              <a:rPr dirty="0" err="1"/>
              <a:t>spiegata</a:t>
            </a:r>
            <a:endParaRPr dirty="0"/>
          </a:p>
          <a:p>
            <a:endParaRPr dirty="0"/>
          </a:p>
          <a:p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di:</a:t>
            </a:r>
          </a:p>
          <a:p>
            <a:r>
              <a:rPr dirty="0"/>
              <a:t>1. </a:t>
            </a:r>
            <a:r>
              <a:rPr dirty="0" err="1"/>
              <a:t>Ridurre</a:t>
            </a:r>
            <a:r>
              <a:rPr dirty="0"/>
              <a:t> il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computazionale</a:t>
            </a:r>
            <a:r>
              <a:rPr dirty="0"/>
              <a:t> del clustering</a:t>
            </a:r>
          </a:p>
          <a:p>
            <a:r>
              <a:rPr dirty="0"/>
              <a:t>2. </a:t>
            </a:r>
            <a:r>
              <a:rPr dirty="0" err="1"/>
              <a:t>Eliminare</a:t>
            </a:r>
            <a:r>
              <a:rPr dirty="0"/>
              <a:t> </a:t>
            </a:r>
            <a:r>
              <a:rPr dirty="0" err="1"/>
              <a:t>rumore</a:t>
            </a:r>
            <a:r>
              <a:rPr dirty="0"/>
              <a:t> e </a:t>
            </a:r>
            <a:r>
              <a:rPr dirty="0" err="1"/>
              <a:t>ridondanza</a:t>
            </a:r>
            <a:endParaRPr dirty="0"/>
          </a:p>
          <a:p>
            <a:r>
              <a:rPr dirty="0"/>
              <a:t>3. </a:t>
            </a:r>
            <a:r>
              <a:rPr dirty="0" err="1"/>
              <a:t>Ottenere</a:t>
            </a:r>
            <a:r>
              <a:rPr dirty="0"/>
              <a:t>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interpretabili</a:t>
            </a:r>
            <a:r>
              <a:rPr dirty="0"/>
              <a:t> dal punto di vista </a:t>
            </a:r>
            <a:r>
              <a:rPr dirty="0" err="1"/>
              <a:t>fisico</a:t>
            </a:r>
            <a:r>
              <a:rPr dirty="0"/>
              <a:t>/</a:t>
            </a:r>
            <a:r>
              <a:rPr dirty="0" err="1"/>
              <a:t>tecnico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Interpretazione delle 4 componenti principali:</a:t>
            </a:r>
          </a:p>
          <a:p>
            <a:endParaRPr/>
          </a:p>
          <a:p>
            <a:r>
              <a:t>1. IN_OUT (Comp.1):</a:t>
            </a:r>
          </a:p>
          <a:p>
            <a:r>
              <a:t>   - Separa stili con alta variabilità nell'erogazione potenza vs alta variabilità in decelerazione</a:t>
            </a:r>
          </a:p>
          <a:p>
            <a:r>
              <a:t>   - Score alti: trazione "sporca" con correzioni continue sull'acceleratore</a:t>
            </a:r>
          </a:p>
          <a:p>
            <a:r>
              <a:t>   - Score bassi: frenata modulata, uscita curva composta e lineare</a:t>
            </a:r>
          </a:p>
          <a:p>
            <a:endParaRPr/>
          </a:p>
          <a:p>
            <a:r>
              <a:t>2. C_SHAPE (Comp.2):</a:t>
            </a:r>
          </a:p>
          <a:p>
            <a:r>
              <a:t>   - Distingue guida basata su velocità pura (long.) vs velocità di percorrenza (lat.)</a:t>
            </a:r>
          </a:p>
          <a:p>
            <a:r>
              <a:t>   - Score alti: stile a "V" (frenata profonda, ripartenza rapida)</a:t>
            </a:r>
          </a:p>
          <a:p>
            <a:r>
              <a:t>   - Score bassi: stile basato su velocità di percorrenza e gestione carico laterale</a:t>
            </a:r>
          </a:p>
          <a:p>
            <a:endParaRPr/>
          </a:p>
          <a:p>
            <a:r>
              <a:t>3. TRANS (Comp.3):</a:t>
            </a:r>
          </a:p>
          <a:p>
            <a:r>
              <a:t>   - Discrimina le fasi della curva</a:t>
            </a:r>
          </a:p>
          <a:p>
            <a:r>
              <a:t>   - Score alti: forti staccate, forti accelerazioni, bassa velocità percorrenza</a:t>
            </a:r>
          </a:p>
          <a:p>
            <a:r>
              <a:t>   - Score bassi: alte velocità percorrenza, poca variazione longitudinale</a:t>
            </a:r>
          </a:p>
          <a:p>
            <a:endParaRPr/>
          </a:p>
          <a:p>
            <a:r>
              <a:t>4. TRACK (Comp.4):</a:t>
            </a:r>
          </a:p>
          <a:p>
            <a:r>
              <a:t>   - Caratterizza la configurazione della pista</a:t>
            </a:r>
          </a:p>
          <a:p>
            <a:r>
              <a:t>   - Score alti: maggiore variabilità velocità</a:t>
            </a:r>
          </a:p>
          <a:p>
            <a:r>
              <a:t>   - Score bassi: andamento regolare e uniforme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Model-Based Clustering - Primo Modello:</a:t>
            </a:r>
          </a:p>
          <a:p>
            <a:endParaRPr/>
          </a:p>
          <a:p>
            <a:r>
              <a:t>Modello selezionato: VII (Volume variabile, forma sferica, orientamento identico)</a:t>
            </a:r>
          </a:p>
          <a:p>
            <a:r>
              <a:t>- 13 cluster identificati</a:t>
            </a:r>
          </a:p>
          <a:p>
            <a:r>
              <a:t>- 77 parametri stimati</a:t>
            </a:r>
          </a:p>
          <a:p>
            <a:r>
              <a:t>- BIC = -7108.435</a:t>
            </a:r>
          </a:p>
          <a:p>
            <a:r>
              <a:t>- KL distance = 89.622</a:t>
            </a:r>
          </a:p>
          <a:p>
            <a:r>
              <a:t>- Incertezza media = 0.0796</a:t>
            </a:r>
          </a:p>
          <a:p>
            <a:endParaRPr/>
          </a:p>
          <a:p>
            <a:r>
              <a:t>Il grafico mostra la separazione dei cluster nello spazio delle prime due componenti (IN_OUT vs C_SHAPE).</a:t>
            </a:r>
          </a:p>
          <a:p>
            <a:r>
              <a:t>La sovrapposizione visiva è dovuta all'informazione contenuta nelle altre componenti (TRANS e TRACK).</a:t>
            </a:r>
          </a:p>
          <a:p>
            <a:endParaRPr/>
          </a:p>
          <a:p>
            <a:r>
              <a:t>Problema: i cluster descrivono principalmente i TRACCIATI, non gli stili di guida dei piloti.</a:t>
            </a:r>
          </a:p>
          <a:p>
            <a:r>
              <a:t>Questo ha portato allo sviluppo del secondo approccio con MEM.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Visualizzazione 3D del primo clustering:</a:t>
            </a:r>
          </a:p>
          <a:p>
            <a:endParaRPr/>
          </a:p>
          <a:p>
            <a:r>
              <a:t>Questo grafico 3D mostra come l'aggiunta della componente TRACK migliori significativamente</a:t>
            </a:r>
          </a:p>
          <a:p>
            <a:r>
              <a:t>la separabilità dei cluster rispetto alla visualizzazione 2D.</a:t>
            </a:r>
          </a:p>
          <a:p>
            <a:endParaRPr/>
          </a:p>
          <a:p>
            <a:r>
              <a:t>Osservazioni:</a:t>
            </a:r>
          </a:p>
          <a:p>
            <a:r>
              <a:t>- I cluster sono ben separati nello spazio tridimensionale</a:t>
            </a:r>
          </a:p>
          <a:p>
            <a:r>
              <a:t>- La componente TRACK (asse Z) discrimina fortemente i circuiti</a:t>
            </a:r>
          </a:p>
          <a:p>
            <a:r>
              <a:t>- Conferma che il modello cattura principalmente caratteristiche dei tracciati</a:t>
            </a:r>
          </a:p>
          <a:p>
            <a:endParaRPr/>
          </a:p>
          <a:p>
            <a:r>
              <a:t>Esempi di cluster:</a:t>
            </a:r>
          </a:p>
          <a:p>
            <a:r>
              <a:t>- Monaco (Classe 13): uso gas ritmico, alta IN_OUT</a:t>
            </a:r>
          </a:p>
          <a:p>
            <a:r>
              <a:t>- Monza (Classe 2): staccate profonde, trazione pulita</a:t>
            </a:r>
          </a:p>
          <a:p>
            <a:r>
              <a:t>- Spa/Silverstone (Classi 8-9): assenza frenate decise, alta C_SHAPE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Distribuzione dei Gran Premi nei cluster:</a:t>
            </a:r>
          </a:p>
          <a:p>
            <a:endParaRPr/>
          </a:p>
          <a:p>
            <a:r>
              <a:t>Questo grafico mostra chiaramente come i cluster raggruppino i circuiti in base alle loro caratteristiche:</a:t>
            </a:r>
          </a:p>
          <a:p>
            <a:endParaRPr/>
          </a:p>
          <a:p>
            <a:r>
              <a:t>- Classe 13: Monaco (circuito unico, tortuoso)</a:t>
            </a:r>
          </a:p>
          <a:p>
            <a:r>
              <a:t>- Classi 5, 11: Singapore, Messico, Ungheria (circuiti ad alto carico)</a:t>
            </a:r>
          </a:p>
          <a:p>
            <a:r>
              <a:t>- Classe 6: Baku (curve a 90°)</a:t>
            </a:r>
          </a:p>
          <a:p>
            <a:r>
              <a:t>- Classi 4, 12: Las Vegas, Miami (asfalto scivoloso)</a:t>
            </a:r>
          </a:p>
          <a:p>
            <a:r>
              <a:t>- Classi 8, 9: Spa, Silverstone, Suzuka (circuiti veloci)</a:t>
            </a:r>
          </a:p>
          <a:p>
            <a:r>
              <a:t>- Classe 10: Cina, USA, Brasile (circuiti completi)</a:t>
            </a:r>
          </a:p>
          <a:p>
            <a:r>
              <a:t>- Classe 2: Monza (pista veloce)</a:t>
            </a:r>
          </a:p>
          <a:p>
            <a:r>
              <a:t>- Classe 7: Bahrain, Canada (poche curve alta velocità)</a:t>
            </a:r>
          </a:p>
          <a:p>
            <a:r>
              <a:t>- Classe 1: Australian, Abu Dhabi, Qatar, Saudi, Spanish (gruppo principale)</a:t>
            </a:r>
          </a:p>
          <a:p>
            <a:r>
              <a:t>- Classe 3: Austrian, Emilia Romagna (simile a Classe 1 ma più accentuato)</a:t>
            </a:r>
          </a:p>
          <a:p>
            <a:endParaRPr/>
          </a:p>
          <a:p>
            <a:r>
              <a:t>Conclusione: il clustering identifica tipologie di tracciati, non stili di guida.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Mixture of Experts Models (MEM):</a:t>
            </a:r>
          </a:p>
          <a:p>
            <a:endParaRPr/>
          </a:p>
          <a:p>
            <a:r>
              <a:t>Motivazione:</a:t>
            </a:r>
          </a:p>
          <a:p>
            <a:r>
              <a:t>Il primo clustering ha identificato principalmente caratteristiche dei tracciati.</a:t>
            </a:r>
          </a:p>
          <a:p>
            <a:r>
              <a:t>Per isolare gli stili di guida, è necessario controllare l'effetto della pista.</a:t>
            </a:r>
          </a:p>
          <a:p>
            <a:endParaRPr/>
          </a:p>
          <a:p>
            <a:r>
              <a:t>Approccio:</a:t>
            </a:r>
          </a:p>
          <a:p>
            <a:r>
              <a:t>- Regressione normale multivariata</a:t>
            </a:r>
          </a:p>
          <a:p>
            <a:r>
              <a:t>- Variabili dipendenti: IN_OUT, C_SHAPE, TRANS</a:t>
            </a:r>
          </a:p>
          <a:p>
            <a:r>
              <a:t>- Variabile esplicativa: TRACK</a:t>
            </a:r>
          </a:p>
          <a:p>
            <a:r>
              <a:t>- Questo permette di "rimuovere" l'effetto della configurazione del tracciato</a:t>
            </a:r>
          </a:p>
          <a:p>
            <a:endParaRPr/>
          </a:p>
          <a:p>
            <a:r>
              <a:t>Risultati - 4 cluster (stili di guida):</a:t>
            </a:r>
          </a:p>
          <a:p>
            <a:endParaRPr/>
          </a:p>
          <a:p>
            <a:r>
              <a:t>1. Cluster 1 - Reattivo:</a:t>
            </a:r>
          </a:p>
          <a:p>
            <a:r>
              <a:t>   - Alto IN_OUT, medio C_SHAPE, basso TRANS</a:t>
            </a:r>
          </a:p>
          <a:p>
            <a:r>
              <a:t>   - Correzioni frequenti sull'acceleratore</a:t>
            </a:r>
          </a:p>
          <a:p>
            <a:r>
              <a:t>   - Mantiene elevate velocità di percorrenza</a:t>
            </a:r>
          </a:p>
          <a:p>
            <a:endParaRPr/>
          </a:p>
          <a:p>
            <a:r>
              <a:t>2. Cluster 2 - 'V' estremo:</a:t>
            </a:r>
          </a:p>
          <a:p>
            <a:r>
              <a:t>   - Basso IN_OUT, alto C_SHAPE, alto TRANS</a:t>
            </a:r>
          </a:p>
          <a:p>
            <a:r>
              <a:t>   - Staccate profonde, ripartenze rapide</a:t>
            </a:r>
          </a:p>
          <a:p>
            <a:r>
              <a:t>   - Erogazione molto pulita</a:t>
            </a:r>
          </a:p>
          <a:p>
            <a:r>
              <a:t>   - Esempi: Verstappen, Leclerc</a:t>
            </a:r>
          </a:p>
          <a:p>
            <a:endParaRPr/>
          </a:p>
          <a:p>
            <a:r>
              <a:t>3. Cluster 3 - Percorrenza:</a:t>
            </a:r>
          </a:p>
          <a:p>
            <a:r>
              <a:t>   - Alto IN_OUT, basso C_SHAPE, alto TRANS</a:t>
            </a:r>
          </a:p>
          <a:p>
            <a:r>
              <a:t>   - Focus su carico laterale</a:t>
            </a:r>
          </a:p>
          <a:p>
            <a:r>
              <a:t>   - Trazione "sporca" con correzioni</a:t>
            </a:r>
          </a:p>
          <a:p>
            <a:endParaRPr/>
          </a:p>
          <a:p>
            <a:r>
              <a:t>4. Cluster 4 - Fluido:</a:t>
            </a:r>
          </a:p>
          <a:p>
            <a:r>
              <a:t>   - Basso IN_OUT, basso C_SHAPE, basso TRANS</a:t>
            </a:r>
          </a:p>
          <a:p>
            <a:r>
              <a:t>   - Massima stabilità e fluidità</a:t>
            </a:r>
          </a:p>
          <a:p>
            <a:r>
              <a:t>   - Minime variazioni longitudinali</a:t>
            </a:r>
          </a:p>
          <a:p>
            <a:r>
              <a:t>   - Esempi: Norris, Russell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Visualizzazione delle regressioni MEM:</a:t>
            </a:r>
          </a:p>
          <a:p>
            <a:endParaRPr/>
          </a:p>
          <a:p>
            <a:r>
              <a:t>Questo grafico mostra come ciascun cluster (stile di guida) si comporta in funzione</a:t>
            </a:r>
          </a:p>
          <a:p>
            <a:r>
              <a:t>della componente TRACK (configurazione pista).</a:t>
            </a:r>
          </a:p>
          <a:p>
            <a:endParaRPr/>
          </a:p>
          <a:p>
            <a:r>
              <a:t>Osservazioni:</a:t>
            </a:r>
          </a:p>
          <a:p>
            <a:r>
              <a:t>- Ogni cluster ha una relazione lineare distinta con TRACK</a:t>
            </a:r>
          </a:p>
          <a:p>
            <a:r>
              <a:t>- Le pendenze diverse indicano che gli stili reagiscono diversamente ai tracciati</a:t>
            </a:r>
          </a:p>
          <a:p>
            <a:r>
              <a:t>- Cluster 2 (rosso): pendenza positiva marcata</a:t>
            </a:r>
          </a:p>
          <a:p>
            <a:r>
              <a:t>- Cluster 4 (blu): pendenza negativa</a:t>
            </a:r>
          </a:p>
          <a:p>
            <a:r>
              <a:t>- Cluster 1 e 3: pendenze intermedie</a:t>
            </a:r>
          </a:p>
          <a:p>
            <a:endParaRPr/>
          </a:p>
          <a:p>
            <a:r>
              <a:t>Questo conferma che il modello MEM riesce a separare gli stili di guida</a:t>
            </a:r>
          </a:p>
          <a:p>
            <a:r>
              <a:t>controllando per l'effetto della pista.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Visualizzazione 3D del modello MEM:</a:t>
            </a:r>
          </a:p>
          <a:p>
            <a:endParaRPr/>
          </a:p>
          <a:p>
            <a:r>
              <a:t>Questo grafico mostra:</a:t>
            </a:r>
          </a:p>
          <a:p>
            <a:r>
              <a:t>- Punti: osservazioni colorate per cluster</a:t>
            </a:r>
          </a:p>
          <a:p>
            <a:r>
              <a:t>- Linee: piani di regressione per ciascun cluster</a:t>
            </a:r>
          </a:p>
          <a:p>
            <a:endParaRPr/>
          </a:p>
          <a:p>
            <a:r>
              <a:t>La visualizzazione 3D evidenzia come il MEM modelli la relazione tra:</a:t>
            </a:r>
          </a:p>
          <a:p>
            <a:r>
              <a:t>- Le componenti di stile (IN_OUT, C_SHAPE, TRANS)</a:t>
            </a:r>
          </a:p>
          <a:p>
            <a:r>
              <a:t>- La componente di tracciato (TRACK)</a:t>
            </a:r>
          </a:p>
          <a:p>
            <a:endParaRPr/>
          </a:p>
          <a:p>
            <a:r>
              <a:t>I piani di regressione paralleli ma distinti confermano che i 4 cluster</a:t>
            </a:r>
          </a:p>
          <a:p>
            <a:r>
              <a:t>rappresentano stili di guida diversi che si adattano ai circuiti in modo differente.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Interpretazione dei risultati:</a:t>
            </a:r>
          </a:p>
          <a:p>
            <a:endParaRPr/>
          </a:p>
          <a:p>
            <a:r>
              <a:t>Successi:</a:t>
            </a:r>
          </a:p>
          <a:p>
            <a:r>
              <a:t>- I cluster identificati corrispondono a stili di guida osservabili nella realtà</a:t>
            </a:r>
          </a:p>
          <a:p>
            <a:r>
              <a:t>- Cluster 2 (Verstappen, Leclerc): noto stile aggressivo a "V"</a:t>
            </a:r>
          </a:p>
          <a:p>
            <a:r>
              <a:t>- Cluster 4 (Norris, Russell): noto stile fluido e composto</a:t>
            </a:r>
          </a:p>
          <a:p>
            <a:r>
              <a:t>- Risultati coerenti con analisi di esperti F1</a:t>
            </a:r>
          </a:p>
          <a:p>
            <a:endParaRPr/>
          </a:p>
          <a:p>
            <a:r>
              <a:t>Limitazioni:</a:t>
            </a:r>
          </a:p>
          <a:p>
            <a:r>
              <a:t>- Forte dipendenza dalla geometria del tracciato</a:t>
            </a:r>
          </a:p>
          <a:p>
            <a:r>
              <a:t>- Anche con MEM, l'effetto pista non è completamente eliminato</a:t>
            </a:r>
          </a:p>
          <a:p>
            <a:endParaRPr/>
          </a:p>
          <a:p>
            <a:r>
              <a:t>Possibili cause:</a:t>
            </a:r>
          </a:p>
          <a:p>
            <a:r>
              <a:t>1. Le variabili utilizzate potrebbero non essere sufficientemente discriminanti</a:t>
            </a:r>
          </a:p>
          <a:p>
            <a:r>
              <a:t>   - Potrebbero servire: punti di staccata, angolo sterzo, traiettorie</a:t>
            </a:r>
          </a:p>
          <a:p>
            <a:r>
              <a:t>2. I piloti potrebbero adattarsi ai circuiti più che mantenere uno stile fisso</a:t>
            </a:r>
          </a:p>
          <a:p>
            <a:r>
              <a:t>   - L'adattamento al tracciato potrebbe essere parte integrante dello "stile"</a:t>
            </a:r>
          </a:p>
          <a:p>
            <a:endParaRPr/>
          </a:p>
          <a:p>
            <a:r>
              <a:t>Distribuzione piloti nei cluster (esempi):</a:t>
            </a:r>
          </a:p>
          <a:p>
            <a:r>
              <a:t>- Bearman: 8 giri Cluster 1, 4 Cluster 2, 1 Cluster 3, 10 Cluster 4</a:t>
            </a:r>
          </a:p>
          <a:p>
            <a:r>
              <a:t>- Colapinto: 9 Cluster 1, 2 Cluster 2, 2 Cluster 3, 5 Cluster 4</a:t>
            </a:r>
          </a:p>
          <a:p>
            <a:r>
              <a:t>- Leclerc: 9 Cluster 1, 3 Cluster 2, 1 Cluster 3, 11 Cluster 4</a:t>
            </a:r>
          </a:p>
          <a:p>
            <a:r>
              <a:t>- Norris: 9 Cluster 1, 4 Cluster 2, 1 Cluster 3, 10 Cluster 4</a:t>
            </a:r>
          </a:p>
          <a:p>
            <a:r>
              <a:t>- Russell: 9 Cluster 1, 3 Cluster 2, 1 Cluster 3, 10 Cluster 4</a:t>
            </a:r>
          </a:p>
          <a:p>
            <a:r>
              <a:t>- Verstappen: 8 Cluster 1, 3 Cluster 2, 3 Cluster 3, 10 Cluster 4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Conclusioni:</a:t>
            </a:r>
          </a:p>
          <a:p>
            <a:endParaRPr/>
          </a:p>
          <a:p>
            <a:r>
              <a:t>Successi del progetto:</a:t>
            </a:r>
          </a:p>
          <a:p>
            <a:r>
              <a:t>1. Identificazione di pattern significativi nei dati telemetrici</a:t>
            </a:r>
          </a:p>
          <a:p>
            <a:r>
              <a:t>2. PCA efficace per riduzione dimensionalità mantenendo interpretabilità</a:t>
            </a:r>
          </a:p>
          <a:p>
            <a:r>
              <a:t>3. MEM utile per controllare l'effetto della covariata (pista)</a:t>
            </a:r>
          </a:p>
          <a:p>
            <a:r>
              <a:t>4. Risultati coerenti con osservazioni qualitative degli esperti F1</a:t>
            </a:r>
          </a:p>
          <a:p>
            <a:endParaRPr/>
          </a:p>
          <a:p>
            <a:r>
              <a:t>Limitazioni:</a:t>
            </a:r>
          </a:p>
          <a:p>
            <a:r>
              <a:t>- Forte influenza della geometria del tracciato anche dopo MEM</a:t>
            </a:r>
          </a:p>
          <a:p>
            <a:r>
              <a:t>- Necessità di variabili più specifiche per lo stile di guida</a:t>
            </a:r>
          </a:p>
          <a:p>
            <a:endParaRPr/>
          </a:p>
          <a:p>
            <a:r>
              <a:t>Sviluppi futuri proposti:</a:t>
            </a:r>
          </a:p>
          <a:p>
            <a:r>
              <a:t>1. Variabili aggiuntive:</a:t>
            </a:r>
          </a:p>
          <a:p>
            <a:r>
              <a:t>   - Punti di staccata (metri prima della curva)</a:t>
            </a:r>
          </a:p>
          <a:p>
            <a:r>
              <a:t>   - Angolo sterzo e sua modulazione</a:t>
            </a:r>
          </a:p>
          <a:p>
            <a:r>
              <a:t>   - Traiettorie (punti di corda, ingresso/uscita curva)</a:t>
            </a:r>
          </a:p>
          <a:p>
            <a:r>
              <a:t>   - Temperatura gomme e pressioni</a:t>
            </a:r>
          </a:p>
          <a:p>
            <a:endParaRPr/>
          </a:p>
          <a:p>
            <a:r>
              <a:t>2. Analisi temporale:</a:t>
            </a:r>
          </a:p>
          <a:p>
            <a:r>
              <a:t>   - Estendere l'analisi a più stagioni</a:t>
            </a:r>
          </a:p>
          <a:p>
            <a:r>
              <a:t>   - Studiare l'evoluzione degli stili di guida nel tempo</a:t>
            </a:r>
          </a:p>
          <a:p>
            <a:r>
              <a:t>   - Analizzare l'adattamento dei piloti a nuove vetture</a:t>
            </a:r>
          </a:p>
          <a:p>
            <a:endParaRPr/>
          </a:p>
          <a:p>
            <a:r>
              <a:t>3. Validazione:</a:t>
            </a:r>
          </a:p>
          <a:p>
            <a:r>
              <a:t>   - Confronto con analisi di esperti del settore</a:t>
            </a:r>
          </a:p>
          <a:p>
            <a:r>
              <a:t>   - Interviste con ingegneri di pista</a:t>
            </a:r>
          </a:p>
          <a:p>
            <a:r>
              <a:t>   - Validazione con simulatori professionali</a:t>
            </a:r>
          </a:p>
          <a:p>
            <a:endParaRPr/>
          </a:p>
          <a:p>
            <a:r>
              <a:t>4. Metodologie alternative:</a:t>
            </a:r>
          </a:p>
          <a:p>
            <a:r>
              <a:t>   - Deep Learning per pattern recognition</a:t>
            </a:r>
          </a:p>
          <a:p>
            <a:r>
              <a:t>   - Time series clustering per analisi dinamiche</a:t>
            </a:r>
          </a:p>
          <a:p>
            <a:r>
              <a:t>   - Functional Data Analysis per curve telemetriche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TracingInsights/202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a.com/sites/default/files/fia_2025_formula_1_sporting_regulations_-_issue_1_-_2024-07-31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 descr="Scarica lo sfondo del Guardala Potenza Della Macchina Ferrari F1 In Azione.  | Wallpapers.com">
            <a:extLst>
              <a:ext uri="{FF2B5EF4-FFF2-40B4-BE49-F238E27FC236}">
                <a16:creationId xmlns:a16="http://schemas.microsoft.com/office/drawing/2014/main" id="{8BFBD3A6-CC4B-F5D6-B2D1-98B91E4BE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9"/>
            <a:ext cx="12192000" cy="7546063"/>
          </a:xfrm>
          <a:prstGeom prst="rect">
            <a:avLst/>
          </a:prstGeom>
          <a:noFill/>
          <a:effectLst>
            <a:outerShdw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4181" y="1646864"/>
            <a:ext cx="860363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 dirty="0" err="1">
                <a:latin typeface="Formula1 Display Bold" panose="02000000000000000000" pitchFamily="2" charset="0"/>
                <a:cs typeface="Lucida Sans Unicode" panose="020B0602030504020204" pitchFamily="34" charset="0"/>
              </a:rPr>
              <a:t>Analisi</a:t>
            </a:r>
            <a:r>
              <a:rPr sz="5400" dirty="0">
                <a:latin typeface="Formula1 Display Bold" panose="02000000000000000000" pitchFamily="2" charset="0"/>
                <a:cs typeface="Lucida Sans Unicode" panose="020B0602030504020204" pitchFamily="34" charset="0"/>
              </a:rPr>
              <a:t> Telemetrie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2631" y="3281940"/>
            <a:ext cx="8165592" cy="56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rPr sz="2400" dirty="0" err="1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Identificazione</a:t>
            </a:r>
            <a:r>
              <a:rPr sz="2400" dirty="0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degli </a:t>
            </a:r>
            <a:r>
              <a:rPr sz="2400" dirty="0" err="1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Stili</a:t>
            </a:r>
            <a:r>
              <a:rPr sz="2400" dirty="0">
                <a:latin typeface="Formula1 Display-Regular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di Guida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50C9BEF-BB2C-1C3F-36C2-7AF1FD3A2FC8}"/>
              </a:ext>
            </a:extLst>
          </p:cNvPr>
          <p:cNvSpPr txBox="1"/>
          <p:nvPr/>
        </p:nvSpPr>
        <p:spPr>
          <a:xfrm>
            <a:off x="209825" y="6077635"/>
            <a:ext cx="8165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Gruppo CORES</a:t>
            </a:r>
          </a:p>
          <a:p>
            <a:r>
              <a:rPr lang="it-IT" dirty="0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Maccianti Federico • </a:t>
            </a:r>
            <a:r>
              <a:rPr lang="it-IT" dirty="0" err="1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Rapacioli</a:t>
            </a:r>
            <a:r>
              <a:rPr lang="it-IT" dirty="0">
                <a:solidFill>
                  <a:schemeClr val="bg1"/>
                </a:solidFill>
                <a:latin typeface="Formula1 Display-Bold" panose="02000000000000000000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Nicola • Riva Pietro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8330596-0548-B131-7D6F-ED69F6188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385"/>
            <a:ext cx="12191999" cy="603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5332" y="1490008"/>
            <a:ext cx="116666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Lo studio è basato sulla repository </a:t>
            </a:r>
            <a:r>
              <a:rPr lang="it-IT" sz="200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Formula1 Display-Regular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TracingInsights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.</a:t>
            </a:r>
            <a:br>
              <a:rPr lang="it-IT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Formula1 Display-Regular" panose="02000000000000000000" pitchFamily="2" charset="0"/>
              </a:rPr>
            </a:br>
            <a:br>
              <a:rPr lang="it-IT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Formula1 Display-Regular" panose="02000000000000000000" pitchFamily="2" charset="0"/>
              </a:rPr>
            </a:b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Per le sessioni di qualifica del 2025 selezionando il miglior giro di ciascun pilota . 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" y="0"/>
            <a:ext cx="12191998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2399" y="233665"/>
            <a:ext cx="564289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it-IT" sz="3600" dirty="0">
                <a:latin typeface="Formula1 Display-Bold" panose="02000000000000000000" pitchFamily="2" charset="0"/>
              </a:rPr>
              <a:t>Fonti</a:t>
            </a:r>
            <a:endParaRPr sz="3600" dirty="0">
              <a:latin typeface="Formula1 Display-Bold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80207F0B-575C-F2C8-406F-FE27F098A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0811"/>
              </p:ext>
            </p:extLst>
          </p:nvPr>
        </p:nvGraphicFramePr>
        <p:xfrm>
          <a:off x="525332" y="3195782"/>
          <a:ext cx="10972794" cy="2355678"/>
        </p:xfrm>
        <a:graphic>
          <a:graphicData uri="http://schemas.openxmlformats.org/drawingml/2006/table">
            <a:tbl>
              <a:tblPr/>
              <a:tblGrid>
                <a:gridCol w="1550221">
                  <a:extLst>
                    <a:ext uri="{9D8B030D-6E8A-4147-A177-3AD203B41FA5}">
                      <a16:colId xmlns:a16="http://schemas.microsoft.com/office/drawing/2014/main" val="433862973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611440438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188765853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768372371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3711697179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1856282972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324349527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519171158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01015019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1091093431"/>
                    </a:ext>
                  </a:extLst>
                </a:gridCol>
                <a:gridCol w="767319">
                  <a:extLst>
                    <a:ext uri="{9D8B030D-6E8A-4147-A177-3AD203B41FA5}">
                      <a16:colId xmlns:a16="http://schemas.microsoft.com/office/drawing/2014/main" val="313402791"/>
                    </a:ext>
                  </a:extLst>
                </a:gridCol>
                <a:gridCol w="341219">
                  <a:extLst>
                    <a:ext uri="{9D8B030D-6E8A-4147-A177-3AD203B41FA5}">
                      <a16:colId xmlns:a16="http://schemas.microsoft.com/office/drawing/2014/main" val="1101557601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882625174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2873158909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1281655496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86483432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3843354826"/>
                    </a:ext>
                  </a:extLst>
                </a:gridCol>
                <a:gridCol w="554269">
                  <a:extLst>
                    <a:ext uri="{9D8B030D-6E8A-4147-A177-3AD203B41FA5}">
                      <a16:colId xmlns:a16="http://schemas.microsoft.com/office/drawing/2014/main" val="3098464709"/>
                    </a:ext>
                  </a:extLst>
                </a:gridCol>
              </a:tblGrid>
              <a:tr h="3767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rpm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speed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gear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throttle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brake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rel_distance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acc_y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acc_z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7922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4,83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11318,00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350,24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-12,51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48,48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4112,11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2507,00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-233,87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02403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4,99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11181,00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358,46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-8,75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51,04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4177,81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2538,51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-233,20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207624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5,04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11106,16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183,28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2,25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360,96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-8,89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50,65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4200,00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2555,00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-233,00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402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5,30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10716,97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174,34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8,75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373,45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-7,97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48,39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2683,00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907492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5,31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10702,00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373,93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-5,88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48,20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6,21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4324,38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2687,23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-231,97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00890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5,55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10603,00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170,00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385,26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-3,21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43,82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8,41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4363,56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2753,84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-231,25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839216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5,74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10667,39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168,94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51,61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394,14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-2,06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35,98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12,22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4375,00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2822,00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97089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5,91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10725,00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402,06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-0,39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30,72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24,52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4390,27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2921,60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-231,01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3364"/>
                  </a:ext>
                </a:extLst>
              </a:tr>
              <a:tr h="208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Abu Dhabi Grand Prix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5,92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10749,62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168,06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62,56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402,53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2,46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27,03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27,73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4391,00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2927,00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-231,00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83,42</a:t>
                      </a:r>
                    </a:p>
                  </a:txBody>
                  <a:tcPr marL="8663" marR="8663" marT="86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8815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09308" y="106175"/>
            <a:ext cx="6607899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dirty="0">
                <a:latin typeface="Formula1 Display-Bold" panose="02000000000000000000" pitchFamily="2" charset="0"/>
              </a:rPr>
              <a:t>Accorgimenti sulle variabili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sz="1400" dirty="0" err="1">
                <a:latin typeface="Formula1 Display-Bold" panose="02000000000000000000" pitchFamily="2" charset="0"/>
              </a:rPr>
              <a:t>Esempio</a:t>
            </a:r>
            <a:r>
              <a:rPr lang="it-IT" sz="1400" dirty="0">
                <a:latin typeface="Formula1 Display-Bold" panose="02000000000000000000" pitchFamily="2" charset="0"/>
              </a:rPr>
              <a:t> </a:t>
            </a:r>
            <a:r>
              <a:rPr sz="1400" dirty="0">
                <a:latin typeface="Formula1 Display-Bold" panose="02000000000000000000" pitchFamily="2" charset="0"/>
              </a:rPr>
              <a:t>: Telemetrie USA GP</a:t>
            </a:r>
          </a:p>
        </p:txBody>
      </p:sp>
      <p:pic>
        <p:nvPicPr>
          <p:cNvPr id="4" name="Picture 3" descr="tel_ex1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36" y="1143000"/>
            <a:ext cx="770312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2733" y="6400801"/>
            <a:ext cx="63065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Confronto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telemetrie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 Verstappen, Leclerc, Norris, Colapinto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187"/>
            <a:ext cx="12192000" cy="164813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4710-4DE0-EF49-9DCB-23DBD45F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973450-F28C-7319-489E-78C8B69FC59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8DB81-1BD8-43BE-D78A-A13D85B088E3}"/>
              </a:ext>
            </a:extLst>
          </p:cNvPr>
          <p:cNvSpPr txBox="1"/>
          <p:nvPr/>
        </p:nvSpPr>
        <p:spPr>
          <a:xfrm>
            <a:off x="3916557" y="106175"/>
            <a:ext cx="399340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sz="1400" dirty="0" err="1">
                <a:latin typeface="Formula1 Display-Bold" panose="02000000000000000000" pitchFamily="2" charset="0"/>
              </a:rPr>
              <a:t>Esempio</a:t>
            </a:r>
            <a:r>
              <a:rPr lang="it-IT" sz="1400" dirty="0">
                <a:latin typeface="Formula1 Display-Bold" panose="02000000000000000000" pitchFamily="2" charset="0"/>
              </a:rPr>
              <a:t> </a:t>
            </a:r>
            <a:r>
              <a:rPr sz="1400" dirty="0">
                <a:latin typeface="Formula1 Display-Bold" panose="02000000000000000000" pitchFamily="2" charset="0"/>
              </a:rPr>
              <a:t>: Telemetrie </a:t>
            </a:r>
            <a:r>
              <a:rPr lang="it-IT" sz="1400" dirty="0">
                <a:latin typeface="Formula1 Display-Bold" panose="02000000000000000000" pitchFamily="2" charset="0"/>
              </a:rPr>
              <a:t>AUSTRALIA</a:t>
            </a:r>
            <a:r>
              <a:rPr sz="1400" dirty="0">
                <a:latin typeface="Formula1 Display-Bold" panose="02000000000000000000" pitchFamily="2" charset="0"/>
              </a:rPr>
              <a:t> GP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D978F-06DF-F8DA-6F6F-13DC2C76DA54}"/>
              </a:ext>
            </a:extLst>
          </p:cNvPr>
          <p:cNvSpPr txBox="1"/>
          <p:nvPr/>
        </p:nvSpPr>
        <p:spPr>
          <a:xfrm>
            <a:off x="3410014" y="6400801"/>
            <a:ext cx="53719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Confronto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telemetrie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: </a:t>
            </a:r>
            <a:r>
              <a:rPr lang="it-IT"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	</a:t>
            </a:r>
            <a:r>
              <a:rPr lang="it-IT"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Bearman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, </a:t>
            </a:r>
            <a:r>
              <a:rPr lang="it-IT"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Hamilton</a:t>
            </a:r>
            <a:r>
              <a:rPr sz="14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Tsunoda</a:t>
            </a:r>
            <a:endParaRPr sz="14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0C5A4B-463B-D479-593C-C9AA4C54C5B4}"/>
              </a:ext>
            </a:extLst>
          </p:cNvPr>
          <p:cNvSpPr/>
          <p:nvPr/>
        </p:nvSpPr>
        <p:spPr>
          <a:xfrm>
            <a:off x="0" y="6693187"/>
            <a:ext cx="12192000" cy="164813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E4DBD9C-F34A-65A2-A053-1582A919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331" y="1052945"/>
            <a:ext cx="7735077" cy="520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5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2400" y="2074136"/>
            <a:ext cx="117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Rimozione dati mancanti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F2B46A-6C5D-DECC-F568-6ACD05D3708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D0F8300-8D72-4899-C783-813C0FFEFB40}"/>
              </a:ext>
            </a:extLst>
          </p:cNvPr>
          <p:cNvSpPr/>
          <p:nvPr/>
        </p:nvSpPr>
        <p:spPr>
          <a:xfrm>
            <a:off x="152400" y="15240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D64124A2-1993-0014-F04B-AB3F039E8300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Pulizia del dataset</a:t>
            </a:r>
            <a:endParaRPr sz="1400" dirty="0">
              <a:latin typeface="Formula1 Display-Bold" panose="02000000000000000000" pitchFamily="2" charset="0"/>
            </a:endParaRP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59D56459-2F93-25C1-8D37-1D39F2442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95099"/>
              </p:ext>
            </p:extLst>
          </p:nvPr>
        </p:nvGraphicFramePr>
        <p:xfrm>
          <a:off x="233986" y="2800858"/>
          <a:ext cx="11724035" cy="1280730"/>
        </p:xfrm>
        <a:graphic>
          <a:graphicData uri="http://schemas.openxmlformats.org/drawingml/2006/table">
            <a:tbl>
              <a:tblPr/>
              <a:tblGrid>
                <a:gridCol w="1642508">
                  <a:extLst>
                    <a:ext uri="{9D8B030D-6E8A-4147-A177-3AD203B41FA5}">
                      <a16:colId xmlns:a16="http://schemas.microsoft.com/office/drawing/2014/main" val="1678409948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42955166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5045323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5246900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704855931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734341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0440800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955766279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4479605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322860435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980103872"/>
                    </a:ext>
                  </a:extLst>
                </a:gridCol>
                <a:gridCol w="409584">
                  <a:extLst>
                    <a:ext uri="{9D8B030D-6E8A-4147-A177-3AD203B41FA5}">
                      <a16:colId xmlns:a16="http://schemas.microsoft.com/office/drawing/2014/main" val="406583244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24178159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69267960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9365877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76110018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65730936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044555118"/>
                    </a:ext>
                  </a:extLst>
                </a:gridCol>
              </a:tblGrid>
              <a:tr h="412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rpm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speed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gear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throttle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brake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rel_distance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491987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23128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0,017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36934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0,049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555562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0,257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8838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58D0-4F77-9F36-B187-B2A8E27D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D6AC80-47E1-6C59-EF66-9E81C60FF414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F9BB1-7226-FF78-7F7D-48664EEC67DE}"/>
              </a:ext>
            </a:extLst>
          </p:cNvPr>
          <p:cNvSpPr txBox="1"/>
          <p:nvPr/>
        </p:nvSpPr>
        <p:spPr>
          <a:xfrm>
            <a:off x="152400" y="2074136"/>
            <a:ext cx="117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Rimozione dati mancanti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F309C-88B4-A64B-7137-A7E30F47303C}"/>
              </a:ext>
            </a:extLst>
          </p:cNvPr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A22B08-9064-7F51-FAC1-CD33A0DAAE7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04C8D88-EFF7-1371-22A2-55A939FFE96B}"/>
              </a:ext>
            </a:extLst>
          </p:cNvPr>
          <p:cNvSpPr/>
          <p:nvPr/>
        </p:nvSpPr>
        <p:spPr>
          <a:xfrm>
            <a:off x="152400" y="152400"/>
            <a:ext cx="12192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343D0E1C-DB4F-7D00-F0E4-17C868DA89E1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Pulizia del dataset</a:t>
            </a:r>
            <a:endParaRPr sz="1400" dirty="0">
              <a:latin typeface="Formula1 Display-Bold" panose="02000000000000000000" pitchFamily="2" charset="0"/>
            </a:endParaRP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0E52ADAD-A727-1601-8773-4A980F81DFF2}"/>
              </a:ext>
            </a:extLst>
          </p:cNvPr>
          <p:cNvGraphicFramePr>
            <a:graphicFrameLocks noGrp="1"/>
          </p:cNvGraphicFramePr>
          <p:nvPr/>
        </p:nvGraphicFramePr>
        <p:xfrm>
          <a:off x="233986" y="2800858"/>
          <a:ext cx="11724035" cy="1280730"/>
        </p:xfrm>
        <a:graphic>
          <a:graphicData uri="http://schemas.openxmlformats.org/drawingml/2006/table">
            <a:tbl>
              <a:tblPr/>
              <a:tblGrid>
                <a:gridCol w="1642508">
                  <a:extLst>
                    <a:ext uri="{9D8B030D-6E8A-4147-A177-3AD203B41FA5}">
                      <a16:colId xmlns:a16="http://schemas.microsoft.com/office/drawing/2014/main" val="1678409948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42955166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5045323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45246900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704855931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734341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0440800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955766279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4479605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322860435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980103872"/>
                    </a:ext>
                  </a:extLst>
                </a:gridCol>
                <a:gridCol w="409584">
                  <a:extLst>
                    <a:ext uri="{9D8B030D-6E8A-4147-A177-3AD203B41FA5}">
                      <a16:colId xmlns:a16="http://schemas.microsoft.com/office/drawing/2014/main" val="406583244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241781594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369267960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1493658773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2761100182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3657309365"/>
                    </a:ext>
                  </a:extLst>
                </a:gridCol>
                <a:gridCol w="593031">
                  <a:extLst>
                    <a:ext uri="{9D8B030D-6E8A-4147-A177-3AD203B41FA5}">
                      <a16:colId xmlns:a16="http://schemas.microsoft.com/office/drawing/2014/main" val="4044555118"/>
                    </a:ext>
                  </a:extLst>
                </a:gridCol>
              </a:tblGrid>
              <a:tr h="412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pilota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rpm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speed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gear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throttle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brake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rel_distance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acc_z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lap_time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491987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23128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0,017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36934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0,049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555562"/>
                  </a:ext>
                </a:extLst>
              </a:tr>
              <a:tr h="217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Miami Grand Prix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RUS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0,257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86,385</a:t>
                      </a:r>
                    </a:p>
                  </a:txBody>
                  <a:tcPr marL="8246" marR="8246" marT="82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883884"/>
                  </a:ext>
                </a:extLst>
              </a:tr>
            </a:tbl>
          </a:graphicData>
        </a:graphic>
      </p:graphicFrame>
      <p:sp>
        <p:nvSpPr>
          <p:cNvPr id="13" name="TextBox 3">
            <a:extLst>
              <a:ext uri="{FF2B5EF4-FFF2-40B4-BE49-F238E27FC236}">
                <a16:creationId xmlns:a16="http://schemas.microsoft.com/office/drawing/2014/main" id="{63BBD3D2-FC89-955C-F803-8D24709B06CF}"/>
              </a:ext>
            </a:extLst>
          </p:cNvPr>
          <p:cNvSpPr txBox="1"/>
          <p:nvPr/>
        </p:nvSpPr>
        <p:spPr>
          <a:xfrm>
            <a:off x="233979" y="4419921"/>
            <a:ext cx="117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Validazione con regola FIA (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  <a:hlinkClick r:id="rId3"/>
              </a:rPr>
              <a:t>39.4.b.i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);</a:t>
            </a:r>
            <a:endParaRPr sz="2000" dirty="0">
              <a:solidFill>
                <a:schemeClr val="bg1"/>
              </a:solidFill>
              <a:latin typeface="Formula1 Display-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15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2402-D72E-1962-F744-C7DDFC28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veicolo, sport motoristici, ruota, macchina da corsa&#10;&#10;Il contenuto generato dall'IA potrebbe non essere corretto.">
            <a:extLst>
              <a:ext uri="{FF2B5EF4-FFF2-40B4-BE49-F238E27FC236}">
                <a16:creationId xmlns:a16="http://schemas.microsoft.com/office/drawing/2014/main" id="{814544CC-0E48-9D08-864C-C9184AB0F2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713873" y="-1020556"/>
            <a:ext cx="13768138" cy="76058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E2EBB9-3E97-AAB2-BE17-47C3B49695FA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64621-0CB3-9975-80FA-518EFC04A767}"/>
              </a:ext>
            </a:extLst>
          </p:cNvPr>
          <p:cNvSpPr txBox="1"/>
          <p:nvPr/>
        </p:nvSpPr>
        <p:spPr>
          <a:xfrm>
            <a:off x="467835" y="1962626"/>
            <a:ext cx="767736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-&gt;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 e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dec_X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acc_y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|;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Variabili _lag1 e _lag5;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Coefficiente di variazione;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Nromali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[0 , 1 ];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Eliminazione delle correlazioni elevate per </a:t>
            </a:r>
            <a:r>
              <a:rPr lang="it-IT" sz="2000" dirty="0" err="1">
                <a:solidFill>
                  <a:schemeClr val="bg1"/>
                </a:solidFill>
                <a:latin typeface="Formula1 Display-Regular" panose="02000000000000000000" pitchFamily="2" charset="0"/>
              </a:rPr>
              <a:t>rindondanza</a:t>
            </a:r>
            <a:r>
              <a:rPr lang="it-IT" sz="2000" dirty="0">
                <a:solidFill>
                  <a:schemeClr val="bg1"/>
                </a:solidFill>
                <a:latin typeface="Formula1 Display-Regular" panose="02000000000000000000" pitchFamily="2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5681C-108C-E6BE-0F13-EFDA194C900D}"/>
              </a:ext>
            </a:extLst>
          </p:cNvPr>
          <p:cNvSpPr/>
          <p:nvPr/>
        </p:nvSpPr>
        <p:spPr>
          <a:xfrm>
            <a:off x="0" y="6632525"/>
            <a:ext cx="12192000" cy="225475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EE5AA60-F848-38FC-D5DC-355EA5B1CF0E}"/>
              </a:ext>
            </a:extLst>
          </p:cNvPr>
          <p:cNvSpPr txBox="1"/>
          <p:nvPr/>
        </p:nvSpPr>
        <p:spPr>
          <a:xfrm>
            <a:off x="3940602" y="106175"/>
            <a:ext cx="3945311" cy="8002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it-IT" sz="3200" u="sng" dirty="0" err="1">
                <a:latin typeface="Formula1 Display-Bold" panose="02000000000000000000" pitchFamily="2" charset="0"/>
              </a:rPr>
              <a:t>Pre</a:t>
            </a:r>
            <a:r>
              <a:rPr lang="it-IT" sz="3200" u="sng" dirty="0">
                <a:latin typeface="Formula1 Display-Bold" panose="02000000000000000000" pitchFamily="2" charset="0"/>
              </a:rPr>
              <a:t> - processing</a:t>
            </a:r>
            <a:br>
              <a:rPr lang="it-IT" sz="3200" dirty="0">
                <a:latin typeface="Formula1 Display-Bold" panose="02000000000000000000" pitchFamily="2" charset="0"/>
              </a:rPr>
            </a:br>
            <a:r>
              <a:rPr lang="it-IT" sz="1400" dirty="0">
                <a:latin typeface="Formula1 Display-Bold" panose="02000000000000000000" pitchFamily="2" charset="0"/>
              </a:rPr>
              <a:t>Trasformazione e creazione variabili</a:t>
            </a:r>
            <a:endParaRPr sz="1400" dirty="0">
              <a:latin typeface="Formula1 Display-Bold" panose="020000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7656B2C-2FE7-CA46-707A-244BD77093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08684" cy="330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FF1C7118-2922-3612-E990-D4A804A39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22323" y="-9209333"/>
            <a:ext cx="3705726" cy="1414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D67624A7-584E-1F54-8F03-87B5778961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461211"/>
            <a:ext cx="4042611" cy="404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38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42494" y="128678"/>
            <a:ext cx="5707012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 dirty="0">
                <a:latin typeface="Formula1 Display-Bold" panose="02000000000000000000" pitchFamily="2" charset="0"/>
              </a:rPr>
              <a:t>PCA: </a:t>
            </a:r>
            <a:r>
              <a:rPr sz="3200" dirty="0" err="1">
                <a:latin typeface="Formula1 Display-Bold" panose="02000000000000000000" pitchFamily="2" charset="0"/>
              </a:rPr>
              <a:t>Varianza</a:t>
            </a:r>
            <a:r>
              <a:rPr sz="3200" dirty="0">
                <a:latin typeface="Formula1 Display-Bold" panose="02000000000000000000" pitchFamily="2" charset="0"/>
              </a:rPr>
              <a:t> </a:t>
            </a:r>
            <a:r>
              <a:rPr sz="3200" dirty="0" err="1">
                <a:latin typeface="Formula1 Display-Bold" panose="02000000000000000000" pitchFamily="2" charset="0"/>
              </a:rPr>
              <a:t>Spiegata</a:t>
            </a:r>
            <a:endParaRPr sz="3200" dirty="0">
              <a:latin typeface="Formula1 Display-Bold" panose="02000000000000000000" pitchFamily="2" charset="0"/>
            </a:endParaRPr>
          </a:p>
        </p:txBody>
      </p:sp>
      <p:pic>
        <p:nvPicPr>
          <p:cNvPr id="4" name="Picture 3" descr="tel_pca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5474" y="6400801"/>
            <a:ext cx="3841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/>
              <a:t>Prime 4 componenti spiegano &gt;60% della varianza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64813"/>
            <a:ext cx="590097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/>
              <a:t>PCA: Interpretazione Componenti</a:t>
            </a:r>
          </a:p>
        </p:txBody>
      </p:sp>
      <p:pic>
        <p:nvPicPr>
          <p:cNvPr id="4" name="Picture 3" descr="Loadings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64813"/>
            <a:ext cx="5721053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/>
              <a:t>Clustering: 13 Cluster Identificati</a:t>
            </a:r>
          </a:p>
        </p:txBody>
      </p:sp>
      <p:pic>
        <p:nvPicPr>
          <p:cNvPr id="4" name="Picture 3" descr="C1_C2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48090" y="6400801"/>
            <a:ext cx="22958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/>
              <a:t>Modello VII - BIC = -7108.435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64813"/>
            <a:ext cx="521931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/>
              <a:t>Clustering: Visualizzazione 3D</a:t>
            </a:r>
          </a:p>
        </p:txBody>
      </p:sp>
      <p:pic>
        <p:nvPicPr>
          <p:cNvPr id="4" name="Picture 3" descr="new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424" y="1005840"/>
            <a:ext cx="663607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9717" y="6400801"/>
            <a:ext cx="23525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/>
              <a:t>IN_OUT vs C_SHAPE vs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64813"/>
            <a:ext cx="6616876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/>
              <a:t>Distribuzione Cluster per Gran Premio</a:t>
            </a:r>
          </a:p>
        </p:txBody>
      </p:sp>
      <p:pic>
        <p:nvPicPr>
          <p:cNvPr id="4" name="Picture 3" descr="C_SHAPE__IN_OUT__GP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225475"/>
            <a:ext cx="6702091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/>
              <a:t>Mixture of Experts Models (MEM)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56CDC0-6FD2-E666-BC96-58066C72D638}"/>
              </a:ext>
            </a:extLst>
          </p:cNvPr>
          <p:cNvSpPr txBox="1"/>
          <p:nvPr/>
        </p:nvSpPr>
        <p:spPr>
          <a:xfrm>
            <a:off x="2821253" y="2442117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Ridurre effetto pista</a:t>
            </a:r>
          </a:p>
          <a:p>
            <a:endParaRPr lang="it-IT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5E3EBE3C-ED94-62F1-B288-5C507E6EA1D4}"/>
              </a:ext>
            </a:extLst>
          </p:cNvPr>
          <p:cNvSpPr/>
          <p:nvPr/>
        </p:nvSpPr>
        <p:spPr>
          <a:xfrm>
            <a:off x="5229916" y="2442117"/>
            <a:ext cx="1683834" cy="3693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CB5479E-593B-B164-5EED-DF8EF25B268A}"/>
              </a:ext>
            </a:extLst>
          </p:cNvPr>
          <p:cNvSpPr txBox="1"/>
          <p:nvPr/>
        </p:nvSpPr>
        <p:spPr>
          <a:xfrm>
            <a:off x="7260182" y="2441406"/>
            <a:ext cx="5590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IN_OUT, C_SHAPE, TRANS ~ TRACK</a:t>
            </a:r>
          </a:p>
          <a:p>
            <a:endParaRPr lang="it-IT" dirty="0"/>
          </a:p>
        </p:txBody>
      </p:sp>
      <p:sp>
        <p:nvSpPr>
          <p:cNvPr id="10" name="Freccia angolare in su 9">
            <a:extLst>
              <a:ext uri="{FF2B5EF4-FFF2-40B4-BE49-F238E27FC236}">
                <a16:creationId xmlns:a16="http://schemas.microsoft.com/office/drawing/2014/main" id="{F23AA822-4952-FC52-D91E-2289459C8921}"/>
              </a:ext>
            </a:extLst>
          </p:cNvPr>
          <p:cNvSpPr/>
          <p:nvPr/>
        </p:nvSpPr>
        <p:spPr>
          <a:xfrm rot="16200000" flipH="1">
            <a:off x="7636090" y="2842903"/>
            <a:ext cx="747132" cy="1215483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Freccia angolare in su 10">
            <a:extLst>
              <a:ext uri="{FF2B5EF4-FFF2-40B4-BE49-F238E27FC236}">
                <a16:creationId xmlns:a16="http://schemas.microsoft.com/office/drawing/2014/main" id="{03E75B3E-B2AE-8326-EF8C-A170F3183978}"/>
              </a:ext>
            </a:extLst>
          </p:cNvPr>
          <p:cNvSpPr/>
          <p:nvPr/>
        </p:nvSpPr>
        <p:spPr>
          <a:xfrm rot="5400000">
            <a:off x="4054576" y="2862148"/>
            <a:ext cx="747132" cy="1215483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C70D474-B865-AA69-0E26-4DDA172B6EB5}"/>
              </a:ext>
            </a:extLst>
          </p:cNvPr>
          <p:cNvSpPr txBox="1"/>
          <p:nvPr/>
        </p:nvSpPr>
        <p:spPr>
          <a:xfrm>
            <a:off x="5475249" y="3484099"/>
            <a:ext cx="155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Stili di guida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F95FE70-CA7C-4B2B-6F17-3EA5DE5DC556}"/>
              </a:ext>
            </a:extLst>
          </p:cNvPr>
          <p:cNvSpPr txBox="1"/>
          <p:nvPr/>
        </p:nvSpPr>
        <p:spPr>
          <a:xfrm>
            <a:off x="5475249" y="3971620"/>
            <a:ext cx="138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 1. Reattivo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5221714-A2CE-9414-A6A8-09AF4BF16378}"/>
              </a:ext>
            </a:extLst>
          </p:cNvPr>
          <p:cNvSpPr txBox="1"/>
          <p:nvPr/>
        </p:nvSpPr>
        <p:spPr>
          <a:xfrm>
            <a:off x="5475249" y="4337993"/>
            <a:ext cx="233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 2. 'V' estremo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028EFBE-0E09-0C87-2480-DC1780929984}"/>
              </a:ext>
            </a:extLst>
          </p:cNvPr>
          <p:cNvSpPr txBox="1"/>
          <p:nvPr/>
        </p:nvSpPr>
        <p:spPr>
          <a:xfrm>
            <a:off x="5475249" y="4710125"/>
            <a:ext cx="197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 3. Percorrenza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411AB6F-70B3-885B-BFE9-B63CCD41FB4E}"/>
              </a:ext>
            </a:extLst>
          </p:cNvPr>
          <p:cNvSpPr txBox="1"/>
          <p:nvPr/>
        </p:nvSpPr>
        <p:spPr>
          <a:xfrm>
            <a:off x="5475249" y="5073698"/>
            <a:ext cx="138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 4. Fluido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64813"/>
            <a:ext cx="5199437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/>
              <a:t>MEM: Regressioni per Cluster</a:t>
            </a:r>
          </a:p>
        </p:txBody>
      </p:sp>
      <p:pic>
        <p:nvPicPr>
          <p:cNvPr id="4" name="Picture 3" descr="C1_C4_R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7040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4362" y="6400801"/>
            <a:ext cx="33032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/>
              <a:t>Relazione TRACK vs C_SHAPE per i 4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64813"/>
            <a:ext cx="443544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200"/>
              <a:t>MEM: Visualizzazione 3D</a:t>
            </a:r>
          </a:p>
        </p:txBody>
      </p:sp>
      <p:pic>
        <p:nvPicPr>
          <p:cNvPr id="4" name="Picture 3" descr="newpl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88720"/>
            <a:ext cx="663607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43612" y="6400801"/>
            <a:ext cx="41047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1E1E"/>
                </a:solidFill>
              </a:defRPr>
            </a:pPr>
            <a:r>
              <a:rPr sz="1400"/>
              <a:t>IN_OUT vs C_SHAPE vs TRACK con piani di regressione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225475"/>
            <a:ext cx="4783617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/>
              <a:t>Stili di Guida Identificati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4080" y="2074123"/>
            <a:ext cx="78638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Esempi</a:t>
            </a:r>
            <a:r>
              <a:rPr sz="2000" dirty="0">
                <a:solidFill>
                  <a:schemeClr val="bg1"/>
                </a:solidFill>
              </a:rPr>
              <a:t> di </a:t>
            </a:r>
            <a:r>
              <a:rPr sz="2000" dirty="0" err="1">
                <a:solidFill>
                  <a:schemeClr val="bg1"/>
                </a:solidFill>
              </a:rPr>
              <a:t>piloti</a:t>
            </a:r>
            <a:r>
              <a:rPr sz="2000" dirty="0">
                <a:solidFill>
                  <a:schemeClr val="bg1"/>
                </a:solidFill>
              </a:rPr>
              <a:t> per cluster</a:t>
            </a:r>
            <a:r>
              <a:rPr lang="it-IT" sz="2000" dirty="0">
                <a:solidFill>
                  <a:schemeClr val="bg1"/>
                </a:solidFill>
              </a:rPr>
              <a:t>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</a:rPr>
              <a:t>Cluster 2: Verstappen, Leclerc (guida a ‘V’)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it-IT" sz="2000" dirty="0">
                <a:solidFill>
                  <a:schemeClr val="bg1"/>
                </a:solidFill>
              </a:rPr>
              <a:t>Cluster 4: Norris, Russell (guida fluida)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Risultati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coerenti</a:t>
            </a:r>
            <a:r>
              <a:rPr sz="2000" dirty="0">
                <a:solidFill>
                  <a:schemeClr val="bg1"/>
                </a:solidFill>
              </a:rPr>
              <a:t> con </a:t>
            </a:r>
            <a:r>
              <a:rPr sz="2000" dirty="0" err="1">
                <a:solidFill>
                  <a:schemeClr val="bg1"/>
                </a:solidFill>
              </a:rPr>
              <a:t>osservazioni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reali</a:t>
            </a:r>
            <a:r>
              <a:rPr sz="2000" dirty="0">
                <a:solidFill>
                  <a:schemeClr val="bg1"/>
                </a:solidFill>
              </a:rPr>
              <a:t> F1</a:t>
            </a: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Limitazione</a:t>
            </a:r>
            <a:r>
              <a:rPr sz="2000" dirty="0">
                <a:solidFill>
                  <a:schemeClr val="bg1"/>
                </a:solidFill>
              </a:rPr>
              <a:t>: </a:t>
            </a:r>
            <a:r>
              <a:rPr sz="2000" dirty="0" err="1">
                <a:solidFill>
                  <a:schemeClr val="bg1"/>
                </a:solidFill>
              </a:rPr>
              <a:t>dipendenza</a:t>
            </a:r>
            <a:r>
              <a:rPr sz="2000" dirty="0">
                <a:solidFill>
                  <a:schemeClr val="bg1"/>
                </a:solidFill>
              </a:rPr>
              <a:t> da </a:t>
            </a:r>
            <a:r>
              <a:rPr sz="2000" dirty="0" err="1">
                <a:solidFill>
                  <a:schemeClr val="bg1"/>
                </a:solidFill>
              </a:rPr>
              <a:t>geometria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tracciato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225475"/>
            <a:ext cx="5599225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/>
              <a:t>Conclusioni e Sviluppi Futuri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Successi</a:t>
            </a:r>
            <a:r>
              <a:rPr sz="2000" dirty="0">
                <a:solidFill>
                  <a:schemeClr val="bg1"/>
                </a:solidFill>
              </a:rPr>
              <a:t>:</a:t>
            </a:r>
            <a:endParaRPr lang="it-IT" sz="2000" dirty="0">
              <a:solidFill>
                <a:schemeClr val="bg1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Pattern </a:t>
            </a:r>
            <a:r>
              <a:rPr sz="2000" dirty="0" err="1">
                <a:solidFill>
                  <a:schemeClr val="bg1"/>
                </a:solidFill>
              </a:rPr>
              <a:t>identificati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nei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dati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telemetrici</a:t>
            </a:r>
            <a:r>
              <a:rPr lang="it-IT" sz="2000" dirty="0">
                <a:solidFill>
                  <a:schemeClr val="bg1"/>
                </a:solidFill>
              </a:rPr>
              <a:t>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PCA </a:t>
            </a:r>
            <a:r>
              <a:rPr sz="2000" dirty="0" err="1">
                <a:solidFill>
                  <a:schemeClr val="bg1"/>
                </a:solidFill>
              </a:rPr>
              <a:t>efficace</a:t>
            </a:r>
            <a:r>
              <a:rPr sz="2000" dirty="0">
                <a:solidFill>
                  <a:schemeClr val="bg1"/>
                </a:solidFill>
              </a:rPr>
              <a:t> per </a:t>
            </a:r>
            <a:r>
              <a:rPr sz="2000" dirty="0" err="1">
                <a:solidFill>
                  <a:schemeClr val="bg1"/>
                </a:solidFill>
              </a:rPr>
              <a:t>riduzione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dimensionalità</a:t>
            </a:r>
            <a:r>
              <a:rPr lang="it-IT" sz="2000" dirty="0">
                <a:solidFill>
                  <a:schemeClr val="bg1"/>
                </a:solidFill>
              </a:rPr>
              <a:t>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MEM utile per </a:t>
            </a:r>
            <a:r>
              <a:rPr sz="2000" dirty="0" err="1">
                <a:solidFill>
                  <a:schemeClr val="bg1"/>
                </a:solidFill>
              </a:rPr>
              <a:t>controllare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effetto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pista</a:t>
            </a:r>
            <a:r>
              <a:rPr lang="it-IT" sz="2000" dirty="0">
                <a:solidFill>
                  <a:schemeClr val="bg1"/>
                </a:solidFill>
              </a:rPr>
              <a:t>;</a:t>
            </a:r>
            <a:endParaRPr sz="2000" dirty="0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  <a:defRPr sz="2000">
                <a:solidFill>
                  <a:srgbClr val="1E1E1E"/>
                </a:solidFill>
              </a:defRPr>
            </a:pPr>
            <a:endParaRPr sz="20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Sviluppi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futuri</a:t>
            </a:r>
            <a:r>
              <a:rPr sz="2000" dirty="0">
                <a:solidFill>
                  <a:schemeClr val="bg1"/>
                </a:solidFill>
              </a:rPr>
              <a:t>:</a:t>
            </a:r>
            <a:endParaRPr lang="it-IT" sz="2000" dirty="0">
              <a:solidFill>
                <a:schemeClr val="bg1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Variabili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aggiuntive</a:t>
            </a:r>
            <a:r>
              <a:rPr sz="2000" dirty="0">
                <a:solidFill>
                  <a:schemeClr val="bg1"/>
                </a:solidFill>
              </a:rPr>
              <a:t> (</a:t>
            </a:r>
            <a:r>
              <a:rPr sz="2000" dirty="0" err="1">
                <a:solidFill>
                  <a:schemeClr val="bg1"/>
                </a:solidFill>
              </a:rPr>
              <a:t>punti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staccata</a:t>
            </a:r>
            <a:r>
              <a:rPr sz="2000" dirty="0">
                <a:solidFill>
                  <a:schemeClr val="bg1"/>
                </a:solidFill>
              </a:rPr>
              <a:t>, </a:t>
            </a:r>
            <a:r>
              <a:rPr sz="2000" dirty="0" err="1">
                <a:solidFill>
                  <a:schemeClr val="bg1"/>
                </a:solidFill>
              </a:rPr>
              <a:t>angolo</a:t>
            </a:r>
            <a:r>
              <a:rPr sz="2000" dirty="0">
                <a:solidFill>
                  <a:schemeClr val="bg1"/>
                </a:solidFill>
              </a:rPr>
              <a:t> </a:t>
            </a:r>
            <a:r>
              <a:rPr sz="2000" dirty="0" err="1">
                <a:solidFill>
                  <a:schemeClr val="bg1"/>
                </a:solidFill>
              </a:rPr>
              <a:t>sterzo</a:t>
            </a:r>
            <a:r>
              <a:rPr sz="2000" dirty="0">
                <a:solidFill>
                  <a:schemeClr val="bg1"/>
                </a:solidFill>
              </a:rPr>
              <a:t>)</a:t>
            </a:r>
            <a:r>
              <a:rPr lang="it-IT" sz="2000" dirty="0">
                <a:solidFill>
                  <a:schemeClr val="bg1"/>
                </a:solidFill>
              </a:rPr>
              <a:t>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Analisi</a:t>
            </a:r>
            <a:r>
              <a:rPr sz="2000" dirty="0">
                <a:solidFill>
                  <a:schemeClr val="bg1"/>
                </a:solidFill>
              </a:rPr>
              <a:t> multi-</a:t>
            </a:r>
            <a:r>
              <a:rPr sz="2000" dirty="0" err="1">
                <a:solidFill>
                  <a:schemeClr val="bg1"/>
                </a:solidFill>
              </a:rPr>
              <a:t>stagione</a:t>
            </a:r>
            <a:r>
              <a:rPr lang="it-IT" sz="2000" dirty="0">
                <a:solidFill>
                  <a:schemeClr val="bg1"/>
                </a:solidFill>
              </a:rPr>
              <a:t>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sz="2000" dirty="0" err="1">
                <a:solidFill>
                  <a:schemeClr val="bg1"/>
                </a:solidFill>
              </a:rPr>
              <a:t>Validazione</a:t>
            </a:r>
            <a:r>
              <a:rPr sz="2000" dirty="0">
                <a:solidFill>
                  <a:schemeClr val="bg1"/>
                </a:solidFill>
              </a:rPr>
              <a:t> con </a:t>
            </a:r>
            <a:r>
              <a:rPr sz="2000" dirty="0" err="1">
                <a:solidFill>
                  <a:schemeClr val="bg1"/>
                </a:solidFill>
              </a:rPr>
              <a:t>esperti</a:t>
            </a:r>
            <a:r>
              <a:rPr lang="it-IT" sz="2000" dirty="0">
                <a:solidFill>
                  <a:schemeClr val="bg1"/>
                </a:solidFill>
              </a:rPr>
              <a:t>;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6675120"/>
            <a:ext cx="9144000" cy="1828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6400800"/>
            <a:ext cx="914400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77071" y="2692569"/>
            <a:ext cx="7637861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sz="6000"/>
              <a:t>Grazie per l'attenzione!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3103</Words>
  <Application>Microsoft Office PowerPoint</Application>
  <PresentationFormat>Widescreen</PresentationFormat>
  <Paragraphs>722</Paragraphs>
  <Slides>18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6" baseType="lpstr">
      <vt:lpstr>Aptos</vt:lpstr>
      <vt:lpstr>Aptos Narrow</vt:lpstr>
      <vt:lpstr>Arial</vt:lpstr>
      <vt:lpstr>Calibri</vt:lpstr>
      <vt:lpstr>Formula1 Display Bold</vt:lpstr>
      <vt:lpstr>Formula1 Display-Bold</vt:lpstr>
      <vt:lpstr>Formula1 Display-Regular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Pietro Riva</cp:lastModifiedBy>
  <cp:revision>10</cp:revision>
  <dcterms:created xsi:type="dcterms:W3CDTF">2013-01-27T09:14:16Z</dcterms:created>
  <dcterms:modified xsi:type="dcterms:W3CDTF">2026-01-12T19:33:07Z</dcterms:modified>
  <cp:category/>
</cp:coreProperties>
</file>